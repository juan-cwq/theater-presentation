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de97235-7b59-c426-8b8f-b7cb2fd85d32}">
          <p14:sldIdLst>
            <p14:sldId id="256"/>
            <p14:sldId id="257"/>
          </p14:sldIdLst>
        </p14:section>
        <p14:section name="Origins" id="{0b8ef78e-18dc-470d-e359-cd3439f83bcf}">
          <p14:sldIdLst>
            <p14:sldId id="258"/>
            <p14:sldId id="259"/>
          </p14:sldIdLst>
        </p14:section>
        <p14:section name="Golden Age" id="{c050f72a-445d-e232-78c4-7c769d3bfe82}">
          <p14:sldIdLst>
            <p14:sldId id="260"/>
            <p14:sldId id="261"/>
            <p14:sldId id="262"/>
          </p14:sldIdLst>
        </p14:section>
        <p14:section name="Contemporary" id="{370e7e86-afdc-b6cb-7d8d-b80177858117}">
          <p14:sldIdLst>
            <p14:sldId id="263"/>
            <p14:sldId id="264"/>
            <p14:sldId id="265"/>
            <p14:sldId id="266"/>
          </p14:sldIdLst>
        </p14:section>
        <p14:section name="Today" id="{d22b1bb2-f835-0208-5c33-9a0510b75681}">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My chapter is Chapter 9, The American Musical Theatre. In the next few minutes we'll travel from a sexy 1866 spectacle called The Black Crook all the way to Hamilton, and see how the musical grew from pure entertainment into one of America's most serious and most popular art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 honest: people don't suddenly burst into song in real life. The musical is totally antirealistic. And yet, over the past two decades, up to 80 percent of Broadway's box-office income has come from musicals alone, and nine musicals have even won the Pulitzer Prize. So how did we get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music isn't new to drama. Aristotle listed music as the fifth element of tragedy, and the Greek chorus sang and danced. Twenty-five of Shakespeare's thirty-eight plays include songs. Molière wrote comedy-ballets for Louis the Fourteenth, and nearly every major Asian theatre form is built on song and 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Broadway musical has roots in nineteenth-century extravaganzas, vaudeville, and burlesque. In 1866, producers added a stranded French dance company to a dull melodrama called The Black Crook, and it became what we now call America's first true musical. Gilbert and Sullivan premiered The Pirates of Penzance in New York, Bob Cole's all-Black musical comedy packed mixed-race houses, and George M. Cohan gave us Give My Regards to Broadway.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1920s and 30s, musical comedy ruled. The Gershwins, Cole Porter, and Rodgers and Hart wrote shows with simple plots and songs that barely connected to the story. But those songs became jazz standards. Meanwhile, Shuffle Along ran over five hundred performances in 1921, and Black musicals launched the Charleston craze across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musical grew up. Show Boat in 1927 told a serious story through its music and tackled race relations head-on. In 1932, Of Thee I Sing became the first musical to win the Pulitzer Prize. And in 1943, Oklahoma! used Agnes de Mille's choreography to actually move the plot forward. The golden age had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Rodgers and Hammerstein followed with hit after hit, each tackling a real issue: spousal abuse in Carousel, racial prejudice in South Pacific, the rise of Nazism in The Sound of Music. Bernstein and Sondheim's West Side Story reset Romeo and Juliet in New York. These shows ran for years, tickets sold six months in advance, and their songs topped the radio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contemporary era, choreographers took the director's chair. Jerome Robbins created the street-fight dances of West Side Story. Bob Fosse's sharp, sultry style defined Chicago. Michael Bennett's A Chorus Line ran fifteen years and 6,137 performances. And Susan Stroman's The Producers won a record-shattering twelve Tony Awards.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one shaped the modern musical more than Stephen Sondheim. After writing the lyrics for West Side Story, he created a whole new style: ironic, sometimes dark, with brilliantly complex rhymes. Company looked at modern marriage, Sweeney Todd is a bloody revenge tale opera houses now perform, and Into the Woods asks what happens after happily ever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in 1970, Europe invaded Broadway. Andrew Lloyd Webber's Phantom of the Opera became the longest-running musical in Broadway history, and Miss Saigon literally landed a helicopter onstage. Because these shows are mostly sung-through, they travel easily. Then Disney arrived: The Lion King has earned over 6.2 billion dollars worldwide.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musicals have been a driving force, too. From Shuffle Along in 1921 to The Wiz, Dreamgirls, and Bring in 'Da Noise, Bring in 'Da Funk, these shows drew crossover audiences, Black and white together, and helped pave the way for integration. More recent works like Fela! and The Scottsboro Boys celebrate, and criticize, how Black music and white culture interact.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musicals tackle real life: mental illness in Next to Normal, which won the Pulitzer, teenage confusion in Spring Awakening, identity and family in Fun Home, and America's founding in hip-hop with Hamilton. But even the darkest of them share the same DNA as the old Ziegfeld Follies. They still want to entertain, and we still want to clap.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three takeaways. Music has been part of drama since ancient Greece. America turned the musical into its own art form, evolving from spectacle to serious storytelling. And today's musicals face real life head-on while still making us want to clap. With Hamilton and Fun Home, the textbook suggests we may be heading into a new golden age. So, which musical would you show someone who says they hate musicals?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914400" y="1417320"/>
            <a:ext cx="7315200" cy="320040"/>
          </a:xfrm>
          <a:prstGeom prst="rect">
            <a:avLst/>
          </a:prstGeom>
          <a:noFill/>
          <a:ln/>
        </p:spPr>
        <p:txBody>
          <a:bodyPr wrap="square" rtlCol="0"/>
          <a:lstStyle>
            <a:lvl1pPr algn="ctr" indent="0" marL="0">
              <a:buNone/>
              <a:defRPr lang="en-US" sz="1300" b="1" spc="500" kern="0" dirty="0">
                <a:solidFill>
                  <a:schemeClr val="accent1"/>
                </a:solidFill>
              </a:defRPr>
            </a:lvl1pPr>
          </a:lstStyle>
          <a:p>
            <a:pPr algn="ctr" indent="0" marL="0">
              <a:buNone/>
            </a:pPr>
            <a:endParaRPr lang="en-US" sz="1300" dirty="0"/>
          </a:p>
        </p:txBody>
      </p:sp>
      <p:sp>
        <p:nvSpPr>
          <p:cNvPr id="3" name="Text 0"/>
          <p:cNvSpPr/>
          <p:nvPr>
            <p:ph idx="101" type="title" hasCustomPrompt="1"/>
          </p:nvPr>
        </p:nvSpPr>
        <p:spPr>
          <a:xfrm>
            <a:off x="685800" y="1783080"/>
            <a:ext cx="7772400" cy="1371600"/>
          </a:xfrm>
          <a:prstGeom prst="rect">
            <a:avLst/>
          </a:prstGeom>
          <a:noFill/>
          <a:ln/>
        </p:spPr>
        <p:txBody>
          <a:bodyPr wrap="square" rtlCol="0"/>
          <a:lstStyle>
            <a:lvl1pPr algn="ctr" indent="0" marL="0">
              <a:buNone/>
              <a:defRPr lang="en-US" sz="4400" b="1" dirty="0">
                <a:solidFill>
                  <a:schemeClr val="bg1"/>
                </a:solidFill>
              </a:defRPr>
            </a:lvl1pPr>
          </a:lstStyle>
          <a:p>
            <a:pPr algn="ctr" indent="0" marL="0">
              <a:buNone/>
            </a:pPr>
            <a:endParaRPr lang="en-US" sz="4400" dirty="0"/>
          </a:p>
        </p:txBody>
      </p:sp>
      <p:sp>
        <p:nvSpPr>
          <p:cNvPr id="4" name="Text 0"/>
          <p:cNvSpPr/>
          <p:nvPr>
            <p:ph idx="102" type="body" hasCustomPrompt="1"/>
          </p:nvPr>
        </p:nvSpPr>
        <p:spPr>
          <a:xfrm>
            <a:off x="914400" y="3200400"/>
            <a:ext cx="7315200" cy="457200"/>
          </a:xfrm>
          <a:prstGeom prst="rect">
            <a:avLst/>
          </a:prstGeom>
          <a:noFill/>
          <a:ln/>
        </p:spPr>
        <p:txBody>
          <a:bodyPr wrap="square" rtlCol="0"/>
          <a:lstStyle>
            <a:lvl1pPr algn="ctr" indent="0" marL="0">
              <a:buNone/>
              <a:defRPr lang="en-US" sz="2000" i="1" dirty="0">
                <a:solidFill>
                  <a:schemeClr val="accent3"/>
                </a:solidFill>
              </a:defRPr>
            </a:lvl1pPr>
          </a:lstStyle>
          <a:p>
            <a:pPr algn="ct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rtlCol="0"/>
          <a:lstStyle>
            <a:lvl1pPr indent="0" marL="0">
              <a:buNone/>
              <a:defRPr lang="en-US" sz="1200" b="1" spc="4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21792"/>
            <a:ext cx="8046720" cy="64008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4" name="Text 0"/>
          <p:cNvSpPr/>
          <p:nvPr/>
        </p:nvSpPr>
        <p:spPr>
          <a:xfrm>
            <a:off x="548640" y="4754880"/>
            <a:ext cx="4572000" cy="228600"/>
          </a:xfrm>
          <a:prstGeom prst="rect">
            <a:avLst/>
          </a:prstGeom>
          <a:noFill/>
          <a:ln/>
        </p:spPr>
        <p:txBody>
          <a:bodyPr wrap="square" lIns="0" tIns="0" rIns="0" bIns="0" rtlCol="0" anchor="ctr"/>
          <a:lstStyle/>
          <a:p>
            <a:pPr indent="0" marL="0">
              <a:buNone/>
            </a:pPr>
            <a:r>
              <a:rPr lang="en-US" sz="1000" dirty="0">
                <a:solidFill>
                  <a:schemeClr val="accent6"/>
                </a:solidFill>
              </a:rPr>
              <a:t>Chapter 9  ·  The American Musical Theatre</a:t>
            </a:r>
            <a:endParaRPr lang="en-US" sz="10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ot 1"/>
          <p:cNvSpPr/>
          <p:nvPr/>
        </p:nvSpPr>
        <p:spPr>
          <a:xfrm>
            <a:off x="914400" y="1097280"/>
            <a:ext cx="100584" cy="100584"/>
          </a:xfrm>
          <a:prstGeom prst="ellipse">
            <a:avLst/>
          </a:prstGeom>
          <a:solidFill>
            <a:schemeClr val="accent1"/>
          </a:solidFill>
          <a:ln/>
        </p:spPr>
      </p:sp>
      <p:sp>
        <p:nvSpPr>
          <p:cNvPr id="3" name="Dot 2"/>
          <p:cNvSpPr/>
          <p:nvPr/>
        </p:nvSpPr>
        <p:spPr>
          <a:xfrm>
            <a:off x="1275588" y="1097280"/>
            <a:ext cx="100584" cy="100584"/>
          </a:xfrm>
          <a:prstGeom prst="ellipse">
            <a:avLst/>
          </a:prstGeom>
          <a:solidFill>
            <a:schemeClr val="accent1">
              <a:alpha val="45000"/>
            </a:schemeClr>
          </a:solidFill>
          <a:ln/>
        </p:spPr>
      </p:sp>
      <p:sp>
        <p:nvSpPr>
          <p:cNvPr id="4" name="Dot 3"/>
          <p:cNvSpPr/>
          <p:nvPr/>
        </p:nvSpPr>
        <p:spPr>
          <a:xfrm>
            <a:off x="1636776" y="1097280"/>
            <a:ext cx="100584" cy="100584"/>
          </a:xfrm>
          <a:prstGeom prst="ellipse">
            <a:avLst/>
          </a:prstGeom>
          <a:solidFill>
            <a:schemeClr val="accent1"/>
          </a:solidFill>
          <a:ln/>
        </p:spPr>
      </p:sp>
      <p:sp>
        <p:nvSpPr>
          <p:cNvPr id="5" name="Dot 4"/>
          <p:cNvSpPr/>
          <p:nvPr/>
        </p:nvSpPr>
        <p:spPr>
          <a:xfrm>
            <a:off x="1997964" y="1097280"/>
            <a:ext cx="100584" cy="100584"/>
          </a:xfrm>
          <a:prstGeom prst="ellipse">
            <a:avLst/>
          </a:prstGeom>
          <a:solidFill>
            <a:schemeClr val="accent1">
              <a:alpha val="45000"/>
            </a:schemeClr>
          </a:solidFill>
          <a:ln/>
        </p:spPr>
      </p:sp>
      <p:sp>
        <p:nvSpPr>
          <p:cNvPr id="6" name="Dot 5"/>
          <p:cNvSpPr/>
          <p:nvPr/>
        </p:nvSpPr>
        <p:spPr>
          <a:xfrm>
            <a:off x="2359152" y="1097280"/>
            <a:ext cx="100584" cy="100584"/>
          </a:xfrm>
          <a:prstGeom prst="ellipse">
            <a:avLst/>
          </a:prstGeom>
          <a:solidFill>
            <a:schemeClr val="accent1"/>
          </a:solidFill>
          <a:ln/>
        </p:spPr>
      </p:sp>
      <p:sp>
        <p:nvSpPr>
          <p:cNvPr id="7" name="Dot 6"/>
          <p:cNvSpPr/>
          <p:nvPr/>
        </p:nvSpPr>
        <p:spPr>
          <a:xfrm>
            <a:off x="2720340" y="1097280"/>
            <a:ext cx="100584" cy="100584"/>
          </a:xfrm>
          <a:prstGeom prst="ellipse">
            <a:avLst/>
          </a:prstGeom>
          <a:solidFill>
            <a:schemeClr val="accent1">
              <a:alpha val="45000"/>
            </a:schemeClr>
          </a:solidFill>
          <a:ln/>
        </p:spPr>
      </p:sp>
      <p:sp>
        <p:nvSpPr>
          <p:cNvPr id="8" name="Dot 7"/>
          <p:cNvSpPr/>
          <p:nvPr/>
        </p:nvSpPr>
        <p:spPr>
          <a:xfrm>
            <a:off x="3081528" y="1097280"/>
            <a:ext cx="100584" cy="100584"/>
          </a:xfrm>
          <a:prstGeom prst="ellipse">
            <a:avLst/>
          </a:prstGeom>
          <a:solidFill>
            <a:schemeClr val="accent1"/>
          </a:solidFill>
          <a:ln/>
        </p:spPr>
      </p:sp>
      <p:sp>
        <p:nvSpPr>
          <p:cNvPr id="9" name="Dot 8"/>
          <p:cNvSpPr/>
          <p:nvPr/>
        </p:nvSpPr>
        <p:spPr>
          <a:xfrm>
            <a:off x="3442716" y="1097280"/>
            <a:ext cx="100584" cy="100584"/>
          </a:xfrm>
          <a:prstGeom prst="ellipse">
            <a:avLst/>
          </a:prstGeom>
          <a:solidFill>
            <a:schemeClr val="accent1">
              <a:alpha val="45000"/>
            </a:schemeClr>
          </a:solidFill>
          <a:ln/>
        </p:spPr>
      </p:sp>
      <p:sp>
        <p:nvSpPr>
          <p:cNvPr id="10" name="Dot 9"/>
          <p:cNvSpPr/>
          <p:nvPr/>
        </p:nvSpPr>
        <p:spPr>
          <a:xfrm>
            <a:off x="3803904" y="1097280"/>
            <a:ext cx="100584" cy="100584"/>
          </a:xfrm>
          <a:prstGeom prst="ellipse">
            <a:avLst/>
          </a:prstGeom>
          <a:solidFill>
            <a:schemeClr val="accent1"/>
          </a:solidFill>
          <a:ln/>
        </p:spPr>
      </p:sp>
      <p:sp>
        <p:nvSpPr>
          <p:cNvPr id="11" name="Dot 10"/>
          <p:cNvSpPr/>
          <p:nvPr/>
        </p:nvSpPr>
        <p:spPr>
          <a:xfrm>
            <a:off x="4165092" y="1097280"/>
            <a:ext cx="100584" cy="100584"/>
          </a:xfrm>
          <a:prstGeom prst="ellipse">
            <a:avLst/>
          </a:prstGeom>
          <a:solidFill>
            <a:schemeClr val="accent1">
              <a:alpha val="45000"/>
            </a:schemeClr>
          </a:solidFill>
          <a:ln/>
        </p:spPr>
      </p:sp>
      <p:sp>
        <p:nvSpPr>
          <p:cNvPr id="12" name="Dot 11"/>
          <p:cNvSpPr/>
          <p:nvPr/>
        </p:nvSpPr>
        <p:spPr>
          <a:xfrm>
            <a:off x="4526280" y="1097280"/>
            <a:ext cx="100584" cy="100584"/>
          </a:xfrm>
          <a:prstGeom prst="ellipse">
            <a:avLst/>
          </a:prstGeom>
          <a:solidFill>
            <a:schemeClr val="accent1"/>
          </a:solidFill>
          <a:ln/>
        </p:spPr>
      </p:sp>
      <p:sp>
        <p:nvSpPr>
          <p:cNvPr id="13" name="Dot 12"/>
          <p:cNvSpPr/>
          <p:nvPr/>
        </p:nvSpPr>
        <p:spPr>
          <a:xfrm>
            <a:off x="4887468" y="1097280"/>
            <a:ext cx="100584" cy="100584"/>
          </a:xfrm>
          <a:prstGeom prst="ellipse">
            <a:avLst/>
          </a:prstGeom>
          <a:solidFill>
            <a:schemeClr val="accent1">
              <a:alpha val="45000"/>
            </a:schemeClr>
          </a:solidFill>
          <a:ln/>
        </p:spPr>
      </p:sp>
      <p:sp>
        <p:nvSpPr>
          <p:cNvPr id="14" name="Dot 13"/>
          <p:cNvSpPr/>
          <p:nvPr/>
        </p:nvSpPr>
        <p:spPr>
          <a:xfrm>
            <a:off x="5248656" y="1097280"/>
            <a:ext cx="100584" cy="100584"/>
          </a:xfrm>
          <a:prstGeom prst="ellipse">
            <a:avLst/>
          </a:prstGeom>
          <a:solidFill>
            <a:schemeClr val="accent1"/>
          </a:solidFill>
          <a:ln/>
        </p:spPr>
      </p:sp>
      <p:sp>
        <p:nvSpPr>
          <p:cNvPr id="15" name="Dot 14"/>
          <p:cNvSpPr/>
          <p:nvPr/>
        </p:nvSpPr>
        <p:spPr>
          <a:xfrm>
            <a:off x="5609844" y="1097280"/>
            <a:ext cx="100584" cy="100584"/>
          </a:xfrm>
          <a:prstGeom prst="ellipse">
            <a:avLst/>
          </a:prstGeom>
          <a:solidFill>
            <a:schemeClr val="accent1">
              <a:alpha val="45000"/>
            </a:schemeClr>
          </a:solidFill>
          <a:ln/>
        </p:spPr>
      </p:sp>
      <p:sp>
        <p:nvSpPr>
          <p:cNvPr id="16" name="Dot 15"/>
          <p:cNvSpPr/>
          <p:nvPr/>
        </p:nvSpPr>
        <p:spPr>
          <a:xfrm>
            <a:off x="5971032" y="1097280"/>
            <a:ext cx="100584" cy="100584"/>
          </a:xfrm>
          <a:prstGeom prst="ellipse">
            <a:avLst/>
          </a:prstGeom>
          <a:solidFill>
            <a:schemeClr val="accent1"/>
          </a:solidFill>
          <a:ln/>
        </p:spPr>
      </p:sp>
      <p:sp>
        <p:nvSpPr>
          <p:cNvPr id="17" name="Dot 16"/>
          <p:cNvSpPr/>
          <p:nvPr/>
        </p:nvSpPr>
        <p:spPr>
          <a:xfrm>
            <a:off x="6332220" y="1097280"/>
            <a:ext cx="100584" cy="100584"/>
          </a:xfrm>
          <a:prstGeom prst="ellipse">
            <a:avLst/>
          </a:prstGeom>
          <a:solidFill>
            <a:schemeClr val="accent1">
              <a:alpha val="45000"/>
            </a:schemeClr>
          </a:solidFill>
          <a:ln/>
        </p:spPr>
      </p:sp>
      <p:sp>
        <p:nvSpPr>
          <p:cNvPr id="18" name="Dot 17"/>
          <p:cNvSpPr/>
          <p:nvPr/>
        </p:nvSpPr>
        <p:spPr>
          <a:xfrm>
            <a:off x="6693408" y="1097280"/>
            <a:ext cx="100584" cy="100584"/>
          </a:xfrm>
          <a:prstGeom prst="ellipse">
            <a:avLst/>
          </a:prstGeom>
          <a:solidFill>
            <a:schemeClr val="accent1"/>
          </a:solidFill>
          <a:ln/>
        </p:spPr>
      </p:sp>
      <p:sp>
        <p:nvSpPr>
          <p:cNvPr id="19" name="Dot 18"/>
          <p:cNvSpPr/>
          <p:nvPr/>
        </p:nvSpPr>
        <p:spPr>
          <a:xfrm>
            <a:off x="7054596" y="1097280"/>
            <a:ext cx="100584" cy="100584"/>
          </a:xfrm>
          <a:prstGeom prst="ellipse">
            <a:avLst/>
          </a:prstGeom>
          <a:solidFill>
            <a:schemeClr val="accent1">
              <a:alpha val="45000"/>
            </a:schemeClr>
          </a:solidFill>
          <a:ln/>
        </p:spPr>
      </p:sp>
      <p:sp>
        <p:nvSpPr>
          <p:cNvPr id="20" name="Dot 19"/>
          <p:cNvSpPr/>
          <p:nvPr/>
        </p:nvSpPr>
        <p:spPr>
          <a:xfrm>
            <a:off x="7415784" y="1097280"/>
            <a:ext cx="100584" cy="100584"/>
          </a:xfrm>
          <a:prstGeom prst="ellipse">
            <a:avLst/>
          </a:prstGeom>
          <a:solidFill>
            <a:schemeClr val="accent1"/>
          </a:solidFill>
          <a:ln/>
        </p:spPr>
      </p:sp>
      <p:sp>
        <p:nvSpPr>
          <p:cNvPr id="21" name="Dot 20"/>
          <p:cNvSpPr/>
          <p:nvPr/>
        </p:nvSpPr>
        <p:spPr>
          <a:xfrm>
            <a:off x="7776972" y="1097280"/>
            <a:ext cx="100584" cy="100584"/>
          </a:xfrm>
          <a:prstGeom prst="ellipse">
            <a:avLst/>
          </a:prstGeom>
          <a:solidFill>
            <a:schemeClr val="accent1">
              <a:alpha val="45000"/>
            </a:schemeClr>
          </a:solidFill>
          <a:ln/>
        </p:spPr>
      </p:sp>
      <p:sp>
        <p:nvSpPr>
          <p:cNvPr id="22" name="Dot 21"/>
          <p:cNvSpPr/>
          <p:nvPr/>
        </p:nvSpPr>
        <p:spPr>
          <a:xfrm>
            <a:off x="8138160" y="1097280"/>
            <a:ext cx="100584" cy="100584"/>
          </a:xfrm>
          <a:prstGeom prst="ellipse">
            <a:avLst/>
          </a:prstGeom>
          <a:solidFill>
            <a:schemeClr val="accent1"/>
          </a:solidFill>
          <a:ln/>
        </p:spPr>
      </p:sp>
      <p:sp>
        <p:nvSpPr>
          <p:cNvPr id="23" name="Text 0"/>
          <p:cNvSpPr/>
          <p:nvPr>
            <p:ph idx="100" type="body" hasCustomPrompt="1"/>
          </p:nvPr>
        </p:nvSpPr>
        <p:spPr>
          <a:xfrm>
            <a:off x="914400" y="1417320"/>
            <a:ext cx="7315200" cy="320040"/>
          </a:xfrm>
          <a:prstGeom prst="rect">
            <a:avLst/>
          </a:prstGeom>
          <a:noFill/>
          <a:ln/>
        </p:spPr>
        <p:txBody>
          <a:bodyPr wrap="square" lIns="0" tIns="0" rIns="0" bIns="0" rtlCol="0"/>
          <a:lstStyle/>
          <a:p>
            <a:pPr algn="ctr" indent="0" marL="0">
              <a:buNone/>
            </a:pPr>
            <a:r>
              <a:rPr lang="en-US" sz="1300" b="1" spc="500" kern="0" dirty="0">
                <a:solidFill>
                  <a:schemeClr val="accent1"/>
                </a:solidFill>
              </a:rPr>
              <a:t>CHAPTER 9  ·  THEATRE APPRECIATION</a:t>
            </a:r>
            <a:endParaRPr lang="en-US" sz="1300" dirty="0"/>
          </a:p>
        </p:txBody>
      </p:sp>
      <p:sp>
        <p:nvSpPr>
          <p:cNvPr id="24" name="Text 0"/>
          <p:cNvSpPr/>
          <p:nvPr>
            <p:ph idx="101" type="title" hasCustomPrompt="1"/>
          </p:nvPr>
        </p:nvSpPr>
        <p:spPr>
          <a:xfrm>
            <a:off x="685800" y="1783080"/>
            <a:ext cx="7772400" cy="1371600"/>
          </a:xfrm>
          <a:prstGeom prst="rect">
            <a:avLst/>
          </a:prstGeom>
          <a:noFill/>
          <a:ln/>
        </p:spPr>
        <p:txBody>
          <a:bodyPr wrap="square" lIns="0" tIns="0" rIns="0" bIns="0" rtlCol="0" anchor="ctr"/>
          <a:lstStyle/>
          <a:p>
            <a:pPr algn="ctr" indent="0" marL="0">
              <a:buNone/>
            </a:pPr>
            <a:r>
              <a:rPr lang="en-US" sz="4400" b="1" dirty="0">
                <a:solidFill>
                  <a:schemeClr val="bg1"/>
                </a:solidFill>
              </a:rPr>
              <a:t>From The Black Crook to Hamilton</a:t>
            </a:r>
            <a:endParaRPr lang="en-US" sz="4400" dirty="0"/>
          </a:p>
        </p:txBody>
      </p:sp>
      <p:sp>
        <p:nvSpPr>
          <p:cNvPr id="25" name="Text 0"/>
          <p:cNvSpPr/>
          <p:nvPr>
            <p:ph idx="102" type="body" hasCustomPrompt="1"/>
          </p:nvPr>
        </p:nvSpPr>
        <p:spPr>
          <a:xfrm>
            <a:off x="914400" y="3200400"/>
            <a:ext cx="7315200" cy="457200"/>
          </a:xfrm>
          <a:prstGeom prst="rect">
            <a:avLst/>
          </a:prstGeom>
          <a:noFill/>
          <a:ln/>
        </p:spPr>
        <p:txBody>
          <a:bodyPr wrap="square" lIns="0" tIns="0" rIns="0" bIns="0" rtlCol="0"/>
          <a:lstStyle/>
          <a:p>
            <a:pPr algn="ctr" indent="0" marL="0">
              <a:buNone/>
            </a:pPr>
            <a:r>
              <a:rPr lang="en-US" sz="2000" i="1" dirty="0">
                <a:solidFill>
                  <a:schemeClr val="accent3"/>
                </a:solidFill>
              </a:rPr>
              <a:t>The Story of the American Musical Theatre</a:t>
            </a:r>
            <a:endParaRPr lang="en-US" sz="2000" dirty="0"/>
          </a:p>
        </p:txBody>
      </p:sp>
      <p:sp>
        <p:nvSpPr>
          <p:cNvPr id="26" name="Dot 22"/>
          <p:cNvSpPr/>
          <p:nvPr/>
        </p:nvSpPr>
        <p:spPr>
          <a:xfrm>
            <a:off x="914400" y="3977640"/>
            <a:ext cx="100584" cy="100584"/>
          </a:xfrm>
          <a:prstGeom prst="ellipse">
            <a:avLst/>
          </a:prstGeom>
          <a:solidFill>
            <a:schemeClr val="accent1"/>
          </a:solidFill>
          <a:ln/>
        </p:spPr>
      </p:sp>
      <p:sp>
        <p:nvSpPr>
          <p:cNvPr id="27" name="Dot 23"/>
          <p:cNvSpPr/>
          <p:nvPr/>
        </p:nvSpPr>
        <p:spPr>
          <a:xfrm>
            <a:off x="1275588" y="3977640"/>
            <a:ext cx="100584" cy="100584"/>
          </a:xfrm>
          <a:prstGeom prst="ellipse">
            <a:avLst/>
          </a:prstGeom>
          <a:solidFill>
            <a:schemeClr val="accent1">
              <a:alpha val="45000"/>
            </a:schemeClr>
          </a:solidFill>
          <a:ln/>
        </p:spPr>
      </p:sp>
      <p:sp>
        <p:nvSpPr>
          <p:cNvPr id="28" name="Dot 24"/>
          <p:cNvSpPr/>
          <p:nvPr/>
        </p:nvSpPr>
        <p:spPr>
          <a:xfrm>
            <a:off x="1636776" y="3977640"/>
            <a:ext cx="100584" cy="100584"/>
          </a:xfrm>
          <a:prstGeom prst="ellipse">
            <a:avLst/>
          </a:prstGeom>
          <a:solidFill>
            <a:schemeClr val="accent1"/>
          </a:solidFill>
          <a:ln/>
        </p:spPr>
      </p:sp>
      <p:sp>
        <p:nvSpPr>
          <p:cNvPr id="29" name="Dot 25"/>
          <p:cNvSpPr/>
          <p:nvPr/>
        </p:nvSpPr>
        <p:spPr>
          <a:xfrm>
            <a:off x="1997964" y="3977640"/>
            <a:ext cx="100584" cy="100584"/>
          </a:xfrm>
          <a:prstGeom prst="ellipse">
            <a:avLst/>
          </a:prstGeom>
          <a:solidFill>
            <a:schemeClr val="accent1">
              <a:alpha val="45000"/>
            </a:schemeClr>
          </a:solidFill>
          <a:ln/>
        </p:spPr>
      </p:sp>
      <p:sp>
        <p:nvSpPr>
          <p:cNvPr id="30" name="Dot 26"/>
          <p:cNvSpPr/>
          <p:nvPr/>
        </p:nvSpPr>
        <p:spPr>
          <a:xfrm>
            <a:off x="2359152" y="3977640"/>
            <a:ext cx="100584" cy="100584"/>
          </a:xfrm>
          <a:prstGeom prst="ellipse">
            <a:avLst/>
          </a:prstGeom>
          <a:solidFill>
            <a:schemeClr val="accent1"/>
          </a:solidFill>
          <a:ln/>
        </p:spPr>
      </p:sp>
      <p:sp>
        <p:nvSpPr>
          <p:cNvPr id="31" name="Dot 27"/>
          <p:cNvSpPr/>
          <p:nvPr/>
        </p:nvSpPr>
        <p:spPr>
          <a:xfrm>
            <a:off x="2720340" y="3977640"/>
            <a:ext cx="100584" cy="100584"/>
          </a:xfrm>
          <a:prstGeom prst="ellipse">
            <a:avLst/>
          </a:prstGeom>
          <a:solidFill>
            <a:schemeClr val="accent1">
              <a:alpha val="45000"/>
            </a:schemeClr>
          </a:solidFill>
          <a:ln/>
        </p:spPr>
      </p:sp>
      <p:sp>
        <p:nvSpPr>
          <p:cNvPr id="32" name="Dot 28"/>
          <p:cNvSpPr/>
          <p:nvPr/>
        </p:nvSpPr>
        <p:spPr>
          <a:xfrm>
            <a:off x="3081528" y="3977640"/>
            <a:ext cx="100584" cy="100584"/>
          </a:xfrm>
          <a:prstGeom prst="ellipse">
            <a:avLst/>
          </a:prstGeom>
          <a:solidFill>
            <a:schemeClr val="accent1"/>
          </a:solidFill>
          <a:ln/>
        </p:spPr>
      </p:sp>
      <p:sp>
        <p:nvSpPr>
          <p:cNvPr id="33" name="Dot 29"/>
          <p:cNvSpPr/>
          <p:nvPr/>
        </p:nvSpPr>
        <p:spPr>
          <a:xfrm>
            <a:off x="3442716" y="3977640"/>
            <a:ext cx="100584" cy="100584"/>
          </a:xfrm>
          <a:prstGeom prst="ellipse">
            <a:avLst/>
          </a:prstGeom>
          <a:solidFill>
            <a:schemeClr val="accent1">
              <a:alpha val="45000"/>
            </a:schemeClr>
          </a:solidFill>
          <a:ln/>
        </p:spPr>
      </p:sp>
      <p:sp>
        <p:nvSpPr>
          <p:cNvPr id="34" name="Dot 30"/>
          <p:cNvSpPr/>
          <p:nvPr/>
        </p:nvSpPr>
        <p:spPr>
          <a:xfrm>
            <a:off x="3803904" y="3977640"/>
            <a:ext cx="100584" cy="100584"/>
          </a:xfrm>
          <a:prstGeom prst="ellipse">
            <a:avLst/>
          </a:prstGeom>
          <a:solidFill>
            <a:schemeClr val="accent1"/>
          </a:solidFill>
          <a:ln/>
        </p:spPr>
      </p:sp>
      <p:sp>
        <p:nvSpPr>
          <p:cNvPr id="35" name="Dot 31"/>
          <p:cNvSpPr/>
          <p:nvPr/>
        </p:nvSpPr>
        <p:spPr>
          <a:xfrm>
            <a:off x="4165092" y="3977640"/>
            <a:ext cx="100584" cy="100584"/>
          </a:xfrm>
          <a:prstGeom prst="ellipse">
            <a:avLst/>
          </a:prstGeom>
          <a:solidFill>
            <a:schemeClr val="accent1">
              <a:alpha val="45000"/>
            </a:schemeClr>
          </a:solidFill>
          <a:ln/>
        </p:spPr>
      </p:sp>
      <p:sp>
        <p:nvSpPr>
          <p:cNvPr id="36" name="Dot 32"/>
          <p:cNvSpPr/>
          <p:nvPr/>
        </p:nvSpPr>
        <p:spPr>
          <a:xfrm>
            <a:off x="4526280" y="3977640"/>
            <a:ext cx="100584" cy="100584"/>
          </a:xfrm>
          <a:prstGeom prst="ellipse">
            <a:avLst/>
          </a:prstGeom>
          <a:solidFill>
            <a:schemeClr val="accent1"/>
          </a:solidFill>
          <a:ln/>
        </p:spPr>
      </p:sp>
      <p:sp>
        <p:nvSpPr>
          <p:cNvPr id="37" name="Dot 33"/>
          <p:cNvSpPr/>
          <p:nvPr/>
        </p:nvSpPr>
        <p:spPr>
          <a:xfrm>
            <a:off x="4887468" y="3977640"/>
            <a:ext cx="100584" cy="100584"/>
          </a:xfrm>
          <a:prstGeom prst="ellipse">
            <a:avLst/>
          </a:prstGeom>
          <a:solidFill>
            <a:schemeClr val="accent1">
              <a:alpha val="45000"/>
            </a:schemeClr>
          </a:solidFill>
          <a:ln/>
        </p:spPr>
      </p:sp>
      <p:sp>
        <p:nvSpPr>
          <p:cNvPr id="38" name="Dot 34"/>
          <p:cNvSpPr/>
          <p:nvPr/>
        </p:nvSpPr>
        <p:spPr>
          <a:xfrm>
            <a:off x="5248656" y="3977640"/>
            <a:ext cx="100584" cy="100584"/>
          </a:xfrm>
          <a:prstGeom prst="ellipse">
            <a:avLst/>
          </a:prstGeom>
          <a:solidFill>
            <a:schemeClr val="accent1"/>
          </a:solidFill>
          <a:ln/>
        </p:spPr>
      </p:sp>
      <p:sp>
        <p:nvSpPr>
          <p:cNvPr id="39" name="Dot 35"/>
          <p:cNvSpPr/>
          <p:nvPr/>
        </p:nvSpPr>
        <p:spPr>
          <a:xfrm>
            <a:off x="5609844" y="3977640"/>
            <a:ext cx="100584" cy="100584"/>
          </a:xfrm>
          <a:prstGeom prst="ellipse">
            <a:avLst/>
          </a:prstGeom>
          <a:solidFill>
            <a:schemeClr val="accent1">
              <a:alpha val="45000"/>
            </a:schemeClr>
          </a:solidFill>
          <a:ln/>
        </p:spPr>
      </p:sp>
      <p:sp>
        <p:nvSpPr>
          <p:cNvPr id="40" name="Dot 36"/>
          <p:cNvSpPr/>
          <p:nvPr/>
        </p:nvSpPr>
        <p:spPr>
          <a:xfrm>
            <a:off x="5971032" y="3977640"/>
            <a:ext cx="100584" cy="100584"/>
          </a:xfrm>
          <a:prstGeom prst="ellipse">
            <a:avLst/>
          </a:prstGeom>
          <a:solidFill>
            <a:schemeClr val="accent1"/>
          </a:solidFill>
          <a:ln/>
        </p:spPr>
      </p:sp>
      <p:sp>
        <p:nvSpPr>
          <p:cNvPr id="41" name="Dot 37"/>
          <p:cNvSpPr/>
          <p:nvPr/>
        </p:nvSpPr>
        <p:spPr>
          <a:xfrm>
            <a:off x="6332220" y="3977640"/>
            <a:ext cx="100584" cy="100584"/>
          </a:xfrm>
          <a:prstGeom prst="ellipse">
            <a:avLst/>
          </a:prstGeom>
          <a:solidFill>
            <a:schemeClr val="accent1">
              <a:alpha val="45000"/>
            </a:schemeClr>
          </a:solidFill>
          <a:ln/>
        </p:spPr>
      </p:sp>
      <p:sp>
        <p:nvSpPr>
          <p:cNvPr id="42" name="Dot 38"/>
          <p:cNvSpPr/>
          <p:nvPr/>
        </p:nvSpPr>
        <p:spPr>
          <a:xfrm>
            <a:off x="6693408" y="3977640"/>
            <a:ext cx="100584" cy="100584"/>
          </a:xfrm>
          <a:prstGeom prst="ellipse">
            <a:avLst/>
          </a:prstGeom>
          <a:solidFill>
            <a:schemeClr val="accent1"/>
          </a:solidFill>
          <a:ln/>
        </p:spPr>
      </p:sp>
      <p:sp>
        <p:nvSpPr>
          <p:cNvPr id="43" name="Dot 39"/>
          <p:cNvSpPr/>
          <p:nvPr/>
        </p:nvSpPr>
        <p:spPr>
          <a:xfrm>
            <a:off x="7054596" y="3977640"/>
            <a:ext cx="100584" cy="100584"/>
          </a:xfrm>
          <a:prstGeom prst="ellipse">
            <a:avLst/>
          </a:prstGeom>
          <a:solidFill>
            <a:schemeClr val="accent1">
              <a:alpha val="45000"/>
            </a:schemeClr>
          </a:solidFill>
          <a:ln/>
        </p:spPr>
      </p:sp>
      <p:sp>
        <p:nvSpPr>
          <p:cNvPr id="44" name="Dot 40"/>
          <p:cNvSpPr/>
          <p:nvPr/>
        </p:nvSpPr>
        <p:spPr>
          <a:xfrm>
            <a:off x="7415784" y="3977640"/>
            <a:ext cx="100584" cy="100584"/>
          </a:xfrm>
          <a:prstGeom prst="ellipse">
            <a:avLst/>
          </a:prstGeom>
          <a:solidFill>
            <a:schemeClr val="accent1"/>
          </a:solidFill>
          <a:ln/>
        </p:spPr>
      </p:sp>
      <p:sp>
        <p:nvSpPr>
          <p:cNvPr id="45" name="Dot 41"/>
          <p:cNvSpPr/>
          <p:nvPr/>
        </p:nvSpPr>
        <p:spPr>
          <a:xfrm>
            <a:off x="7776972" y="3977640"/>
            <a:ext cx="100584" cy="100584"/>
          </a:xfrm>
          <a:prstGeom prst="ellipse">
            <a:avLst/>
          </a:prstGeom>
          <a:solidFill>
            <a:schemeClr val="accent1">
              <a:alpha val="45000"/>
            </a:schemeClr>
          </a:solidFill>
          <a:ln/>
        </p:spPr>
      </p:sp>
      <p:sp>
        <p:nvSpPr>
          <p:cNvPr id="46" name="Dot 42"/>
          <p:cNvSpPr/>
          <p:nvPr/>
        </p:nvSpPr>
        <p:spPr>
          <a:xfrm>
            <a:off x="8138160" y="3977640"/>
            <a:ext cx="100584" cy="100584"/>
          </a:xfrm>
          <a:prstGeom prst="ellipse">
            <a:avLst/>
          </a:prstGeom>
          <a:solidFill>
            <a:schemeClr val="accent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lstStyle/>
          <a:p>
            <a:pPr indent="0" marL="0">
              <a:buNone/>
            </a:pPr>
            <a:r>
              <a:rPr lang="en-US" sz="1200" b="1" spc="400" kern="0" dirty="0">
                <a:solidFill>
                  <a:schemeClr val="accent1"/>
                </a:solidFill>
              </a:rPr>
              <a:t>THE PARADOX</a:t>
            </a:r>
            <a:endParaRPr lang="en-US" sz="1200" dirty="0"/>
          </a:p>
        </p:txBody>
      </p:sp>
      <p:sp>
        <p:nvSpPr>
          <p:cNvPr id="3" name="Text 0"/>
          <p:cNvSpPr/>
          <p:nvPr>
            <p:ph idx="101" type="title" hasCustomPrompt="1"/>
          </p:nvPr>
        </p:nvSpPr>
        <p:spPr>
          <a:xfrm>
            <a:off x="548640" y="621792"/>
            <a:ext cx="8046720" cy="640080"/>
          </a:xfrm>
          <a:prstGeom prst="rect">
            <a:avLst/>
          </a:prstGeom>
          <a:noFill/>
          <a:ln/>
        </p:spPr>
        <p:txBody>
          <a:bodyPr wrap="square" lIns="0" tIns="0" rIns="0" bIns="0" rtlCol="0" anchor="ctr"/>
          <a:lstStyle/>
          <a:p>
            <a:pPr indent="0" marL="0">
              <a:buNone/>
            </a:pPr>
            <a:r>
              <a:rPr lang="en-US" sz="3600" b="1" dirty="0">
                <a:solidFill>
                  <a:schemeClr val="bg1"/>
                </a:solidFill>
              </a:rPr>
              <a:t>Nobody Bursts Into Song…</a:t>
            </a:r>
            <a:endParaRPr lang="en-US" sz="3600" dirty="0"/>
          </a:p>
        </p:txBody>
      </p:sp>
      <p:sp>
        <p:nvSpPr>
          <p:cNvPr id="4" name="Text 43"/>
          <p:cNvSpPr txBox="1"/>
          <p:nvPr/>
        </p:nvSpPr>
        <p:spPr>
          <a:xfrm>
            <a:off x="548640" y="1508760"/>
            <a:ext cx="4206240" cy="1325880"/>
          </a:xfrm>
          <a:prstGeom prst="rect">
            <a:avLst/>
          </a:prstGeom>
          <a:noFill/>
          <a:ln/>
        </p:spPr>
        <p:txBody>
          <a:bodyPr wrap="square" lIns="0" tIns="0" rIns="0" bIns="0" rtlCol="0" anchor="t"/>
          <a:lstStyle/>
          <a:p>
            <a:pPr indent="0" marL="0">
              <a:buNone/>
            </a:pPr>
            <a:r>
              <a:rPr lang="en-US" sz="2000" dirty="0">
                <a:solidFill>
                  <a:schemeClr val="bg1"/>
                </a:solidFill>
                <a:latin typeface="+mj-lt" pitchFamily="34" charset="0"/>
                <a:ea typeface="+mj-lt" pitchFamily="34" charset="-122"/>
                <a:cs typeface="+mj-lt" pitchFamily="34" charset="-120"/>
              </a:rPr>
              <a:t>Real people don't break into song mid-sentence, or dance in perfect unison down the street.</a:t>
            </a:r>
            <a:endParaRPr lang="en-US" sz="2000" dirty="0"/>
          </a:p>
        </p:txBody>
      </p:sp>
      <p:sp>
        <p:nvSpPr>
          <p:cNvPr id="5" name="Text 44"/>
          <p:cNvSpPr txBox="1"/>
          <p:nvPr/>
        </p:nvSpPr>
        <p:spPr>
          <a:xfrm>
            <a:off x="548640" y="3063240"/>
            <a:ext cx="4206240" cy="1188720"/>
          </a:xfrm>
          <a:prstGeom prst="rect">
            <a:avLst/>
          </a:prstGeom>
          <a:noFill/>
          <a:ln/>
        </p:spPr>
        <p:txBody>
          <a:bodyPr wrap="square" lIns="0" tIns="0" rIns="0" bIns="0" rtlCol="0" anchor="t"/>
          <a:lstStyle/>
          <a:p>
            <a:pPr indent="0" marL="0">
              <a:buNone/>
            </a:pPr>
            <a:r>
              <a:rPr lang="en-US" sz="1600" dirty="0">
                <a:solidFill>
                  <a:schemeClr val="accent6"/>
                </a:solidFill>
              </a:rPr>
              <a:t>The musical is completely antirealistic. Yet it's one of the most popular theatre forms on Earth, and America turned it into an art form all its own.</a:t>
            </a:r>
            <a:endParaRPr lang="en-US" sz="1600" dirty="0"/>
          </a:p>
        </p:txBody>
      </p:sp>
      <p:sp>
        <p:nvSpPr>
          <p:cNvPr id="6" name="Card 45"/>
          <p:cNvSpPr/>
          <p:nvPr/>
        </p:nvSpPr>
        <p:spPr>
          <a:xfrm>
            <a:off x="5120640" y="1463040"/>
            <a:ext cx="3474720" cy="3017520"/>
          </a:xfrm>
          <a:prstGeom prst="roundRect">
            <a:avLst>
              <a:gd name="adj" fmla="val 2424"/>
            </a:avLst>
          </a:prstGeom>
          <a:solidFill>
            <a:schemeClr val="tx2"/>
          </a:solidFill>
          <a:ln/>
        </p:spPr>
      </p:sp>
      <p:sp>
        <p:nvSpPr>
          <p:cNvPr id="7" name="Text 46"/>
          <p:cNvSpPr txBox="1"/>
          <p:nvPr/>
        </p:nvSpPr>
        <p:spPr>
          <a:xfrm>
            <a:off x="5303520" y="1691640"/>
            <a:ext cx="3108960" cy="1005840"/>
          </a:xfrm>
          <a:prstGeom prst="rect">
            <a:avLst/>
          </a:prstGeom>
          <a:noFill/>
          <a:ln/>
        </p:spPr>
        <p:txBody>
          <a:bodyPr wrap="square" lIns="0" tIns="0" rIns="0" bIns="0" rtlCol="0" anchor="ctr"/>
          <a:lstStyle/>
          <a:p>
            <a:pPr algn="ctr" indent="0" marL="0">
              <a:buNone/>
            </a:pPr>
            <a:r>
              <a:rPr lang="en-US" sz="7200" b="1" dirty="0">
                <a:solidFill>
                  <a:schemeClr val="accent1"/>
                </a:solidFill>
                <a:latin typeface="+mj-lt" pitchFamily="34" charset="0"/>
                <a:ea typeface="+mj-lt" pitchFamily="34" charset="-122"/>
                <a:cs typeface="+mj-lt" pitchFamily="34" charset="-120"/>
              </a:rPr>
              <a:t>80%</a:t>
            </a:r>
            <a:endParaRPr lang="en-US" sz="7200" dirty="0"/>
          </a:p>
        </p:txBody>
      </p:sp>
      <p:sp>
        <p:nvSpPr>
          <p:cNvPr id="8" name="Text 47"/>
          <p:cNvSpPr txBox="1"/>
          <p:nvPr/>
        </p:nvSpPr>
        <p:spPr>
          <a:xfrm>
            <a:off x="5394960" y="2743200"/>
            <a:ext cx="2926080" cy="822960"/>
          </a:xfrm>
          <a:prstGeom prst="rect">
            <a:avLst/>
          </a:prstGeom>
          <a:noFill/>
          <a:ln/>
        </p:spPr>
        <p:txBody>
          <a:bodyPr wrap="square" lIns="0" tIns="0" rIns="0" bIns="0" rtlCol="0" anchor="t"/>
          <a:lstStyle/>
          <a:p>
            <a:pPr algn="ctr" indent="0" marL="0">
              <a:buNone/>
            </a:pPr>
            <a:r>
              <a:rPr lang="en-US" sz="1500" dirty="0">
                <a:solidFill>
                  <a:schemeClr val="bg1"/>
                </a:solidFill>
              </a:rPr>
              <a:t>of Broadway's box-office income has come from musicals over the past two decades</a:t>
            </a:r>
            <a:endParaRPr lang="en-US" sz="1500" dirty="0"/>
          </a:p>
        </p:txBody>
      </p:sp>
      <p:sp>
        <p:nvSpPr>
          <p:cNvPr id="9" name="Text 48"/>
          <p:cNvSpPr txBox="1"/>
          <p:nvPr/>
        </p:nvSpPr>
        <p:spPr>
          <a:xfrm>
            <a:off x="5394960" y="3794760"/>
            <a:ext cx="2926080" cy="365760"/>
          </a:xfrm>
          <a:prstGeom prst="rect">
            <a:avLst/>
          </a:prstGeom>
          <a:noFill/>
          <a:ln/>
        </p:spPr>
        <p:txBody>
          <a:bodyPr wrap="square" lIns="0" tIns="0" rIns="0" bIns="0" rtlCol="0" anchor="ctr"/>
          <a:lstStyle/>
          <a:p>
            <a:pPr algn="ctr" indent="0" marL="0">
              <a:buNone/>
            </a:pPr>
            <a:r>
              <a:rPr lang="en-US" sz="1300" i="1" dirty="0">
                <a:solidFill>
                  <a:schemeClr val="accent3"/>
                </a:solidFill>
              </a:rPr>
              <a:t>9 musicals have won the Pulitzer Prize</a:t>
            </a:r>
            <a:endParaRPr lang="en-US" sz="13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lstStyle/>
          <a:p>
            <a:pPr indent="0" marL="0">
              <a:buNone/>
            </a:pPr>
            <a:r>
              <a:rPr lang="en-US" sz="1200" b="1" spc="400" kern="0" dirty="0">
                <a:solidFill>
                  <a:schemeClr val="accent1"/>
                </a:solidFill>
              </a:rPr>
              <a:t>2,500 YEARS OF SONG</a:t>
            </a:r>
            <a:endParaRPr lang="en-US" sz="1200" dirty="0"/>
          </a:p>
        </p:txBody>
      </p:sp>
      <p:sp>
        <p:nvSpPr>
          <p:cNvPr id="3" name="Text 0"/>
          <p:cNvSpPr/>
          <p:nvPr>
            <p:ph idx="101" type="title" hasCustomPrompt="1"/>
          </p:nvPr>
        </p:nvSpPr>
        <p:spPr>
          <a:xfrm>
            <a:off x="548640" y="621792"/>
            <a:ext cx="8046720" cy="640080"/>
          </a:xfrm>
          <a:prstGeom prst="rect">
            <a:avLst/>
          </a:prstGeom>
          <a:noFill/>
          <a:ln/>
        </p:spPr>
        <p:txBody>
          <a:bodyPr wrap="square" lIns="0" tIns="0" rIns="0" bIns="0" rtlCol="0" anchor="ctr"/>
          <a:lstStyle/>
          <a:p>
            <a:pPr indent="0" marL="0">
              <a:buNone/>
            </a:pPr>
            <a:r>
              <a:rPr lang="en-US" sz="3600" b="1" dirty="0">
                <a:solidFill>
                  <a:schemeClr val="bg1"/>
                </a:solidFill>
              </a:rPr>
              <a:t>Theatre Has Always Sung</a:t>
            </a:r>
            <a:endParaRPr lang="en-US" sz="3600" dirty="0"/>
          </a:p>
        </p:txBody>
      </p:sp>
      <p:sp>
        <p:nvSpPr>
          <p:cNvPr id="4" name="Card 49"/>
          <p:cNvSpPr/>
          <p:nvPr/>
        </p:nvSpPr>
        <p:spPr>
          <a:xfrm>
            <a:off x="548640" y="1508760"/>
            <a:ext cx="1805940" cy="2971800"/>
          </a:xfrm>
          <a:prstGeom prst="roundRect">
            <a:avLst>
              <a:gd name="adj" fmla="val 4051"/>
            </a:avLst>
          </a:prstGeom>
          <a:solidFill>
            <a:schemeClr val="tx2"/>
          </a:solidFill>
          <a:ln/>
        </p:spPr>
      </p:sp>
      <p:sp>
        <p:nvSpPr>
          <p:cNvPr id="5" name="Dot 50"/>
          <p:cNvSpPr/>
          <p:nvPr/>
        </p:nvSpPr>
        <p:spPr>
          <a:xfrm>
            <a:off x="731520" y="1691640"/>
            <a:ext cx="548640" cy="548640"/>
          </a:xfrm>
          <a:prstGeom prst="ellipse">
            <a:avLst/>
          </a:prstGeom>
          <a:solidFill>
            <a:schemeClr val="accent1"/>
          </a:solidFill>
          <a:ln/>
        </p:spPr>
      </p:sp>
      <p:pic>
        <p:nvPicPr>
          <p:cNvPr id="6" name="Icon 51" descr="preencoded.png">    </p:cNvPr>
          <p:cNvPicPr>
            <a:picLocks noChangeAspect="1"/>
          </p:cNvPicPr>
          <p:nvPr/>
        </p:nvPicPr>
        <p:blipFill>
          <a:blip r:embed="rId1"/>
          <a:stretch>
            <a:fillRect/>
          </a:stretch>
        </p:blipFill>
        <p:spPr>
          <a:xfrm>
            <a:off x="868680" y="1828800"/>
            <a:ext cx="274320" cy="274320"/>
          </a:xfrm>
          <a:prstGeom prst="rect">
            <a:avLst/>
          </a:prstGeom>
        </p:spPr>
      </p:pic>
      <p:sp>
        <p:nvSpPr>
          <p:cNvPr id="7" name="Text 52"/>
          <p:cNvSpPr txBox="1"/>
          <p:nvPr/>
        </p:nvSpPr>
        <p:spPr>
          <a:xfrm>
            <a:off x="731520" y="2377440"/>
            <a:ext cx="1463040" cy="365760"/>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Greece</a:t>
            </a:r>
            <a:endParaRPr lang="en-US" sz="1600" dirty="0"/>
          </a:p>
        </p:txBody>
      </p:sp>
      <p:sp>
        <p:nvSpPr>
          <p:cNvPr id="8" name="Text 53"/>
          <p:cNvSpPr txBox="1"/>
          <p:nvPr/>
        </p:nvSpPr>
        <p:spPr>
          <a:xfrm>
            <a:off x="731520" y="2788920"/>
            <a:ext cx="1463040" cy="1554480"/>
          </a:xfrm>
          <a:prstGeom prst="rect">
            <a:avLst/>
          </a:prstGeom>
          <a:noFill/>
          <a:ln/>
        </p:spPr>
        <p:txBody>
          <a:bodyPr wrap="square" lIns="0" tIns="0" rIns="0" bIns="0" rtlCol="0" anchor="t"/>
          <a:lstStyle/>
          <a:p>
            <a:pPr indent="0" marL="0">
              <a:buNone/>
            </a:pPr>
            <a:r>
              <a:rPr lang="en-US" sz="1400" dirty="0">
                <a:solidFill>
                  <a:schemeClr val="bg1"/>
                </a:solidFill>
              </a:rPr>
              <a:t>Aristotle called music the fifth element of tragedy; the chorus danced to the aulos flute.</a:t>
            </a:r>
            <a:endParaRPr lang="en-US" sz="1400" dirty="0"/>
          </a:p>
        </p:txBody>
      </p:sp>
      <p:sp>
        <p:nvSpPr>
          <p:cNvPr id="9" name="Card 54"/>
          <p:cNvSpPr/>
          <p:nvPr/>
        </p:nvSpPr>
        <p:spPr>
          <a:xfrm>
            <a:off x="2628900" y="1508760"/>
            <a:ext cx="1805940" cy="2971800"/>
          </a:xfrm>
          <a:prstGeom prst="roundRect">
            <a:avLst>
              <a:gd name="adj" fmla="val 4051"/>
            </a:avLst>
          </a:prstGeom>
          <a:solidFill>
            <a:schemeClr val="tx2"/>
          </a:solidFill>
          <a:ln/>
        </p:spPr>
      </p:sp>
      <p:sp>
        <p:nvSpPr>
          <p:cNvPr id="10" name="Dot 55"/>
          <p:cNvSpPr/>
          <p:nvPr/>
        </p:nvSpPr>
        <p:spPr>
          <a:xfrm>
            <a:off x="2811780" y="1691640"/>
            <a:ext cx="548640" cy="548640"/>
          </a:xfrm>
          <a:prstGeom prst="ellipse">
            <a:avLst/>
          </a:prstGeom>
          <a:solidFill>
            <a:schemeClr val="accent1"/>
          </a:solidFill>
          <a:ln/>
        </p:spPr>
      </p:sp>
      <p:pic>
        <p:nvPicPr>
          <p:cNvPr id="11" name="Icon 56" descr="preencoded.png">    </p:cNvPr>
          <p:cNvPicPr>
            <a:picLocks noChangeAspect="1"/>
          </p:cNvPicPr>
          <p:nvPr/>
        </p:nvPicPr>
        <p:blipFill>
          <a:blip r:embed="rId2"/>
          <a:stretch>
            <a:fillRect/>
          </a:stretch>
        </p:blipFill>
        <p:spPr>
          <a:xfrm>
            <a:off x="2948940" y="1828800"/>
            <a:ext cx="274320" cy="274320"/>
          </a:xfrm>
          <a:prstGeom prst="rect">
            <a:avLst/>
          </a:prstGeom>
        </p:spPr>
      </p:pic>
      <p:sp>
        <p:nvSpPr>
          <p:cNvPr id="12" name="Text 57"/>
          <p:cNvSpPr txBox="1"/>
          <p:nvPr/>
        </p:nvSpPr>
        <p:spPr>
          <a:xfrm>
            <a:off x="2811780" y="2377440"/>
            <a:ext cx="1463040" cy="365760"/>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Shakespeare</a:t>
            </a:r>
            <a:endParaRPr lang="en-US" sz="1600" dirty="0"/>
          </a:p>
        </p:txBody>
      </p:sp>
      <p:sp>
        <p:nvSpPr>
          <p:cNvPr id="13" name="Text 58"/>
          <p:cNvSpPr txBox="1"/>
          <p:nvPr/>
        </p:nvSpPr>
        <p:spPr>
          <a:xfrm>
            <a:off x="2811780" y="2788920"/>
            <a:ext cx="1463040" cy="1554480"/>
          </a:xfrm>
          <a:prstGeom prst="rect">
            <a:avLst/>
          </a:prstGeom>
          <a:noFill/>
          <a:ln/>
        </p:spPr>
        <p:txBody>
          <a:bodyPr wrap="square" lIns="0" tIns="0" rIns="0" bIns="0" rtlCol="0" anchor="t"/>
          <a:lstStyle/>
          <a:p>
            <a:pPr indent="0" marL="0">
              <a:buNone/>
            </a:pPr>
            <a:r>
              <a:rPr lang="en-US" sz="1400" dirty="0">
                <a:solidFill>
                  <a:schemeClr val="bg1"/>
                </a:solidFill>
              </a:rPr>
              <a:t>25 of his 38 plays include singing. The Tempest alone has nine songs.</a:t>
            </a:r>
            <a:endParaRPr lang="en-US" sz="1400" dirty="0"/>
          </a:p>
        </p:txBody>
      </p:sp>
      <p:sp>
        <p:nvSpPr>
          <p:cNvPr id="14" name="Card 59"/>
          <p:cNvSpPr/>
          <p:nvPr/>
        </p:nvSpPr>
        <p:spPr>
          <a:xfrm>
            <a:off x="4709160" y="1508760"/>
            <a:ext cx="1805940" cy="2971800"/>
          </a:xfrm>
          <a:prstGeom prst="roundRect">
            <a:avLst>
              <a:gd name="adj" fmla="val 4051"/>
            </a:avLst>
          </a:prstGeom>
          <a:solidFill>
            <a:schemeClr val="tx2"/>
          </a:solidFill>
          <a:ln/>
        </p:spPr>
      </p:sp>
      <p:sp>
        <p:nvSpPr>
          <p:cNvPr id="15" name="Dot 60"/>
          <p:cNvSpPr/>
          <p:nvPr/>
        </p:nvSpPr>
        <p:spPr>
          <a:xfrm>
            <a:off x="4892040" y="1691640"/>
            <a:ext cx="548640" cy="548640"/>
          </a:xfrm>
          <a:prstGeom prst="ellipse">
            <a:avLst/>
          </a:prstGeom>
          <a:solidFill>
            <a:schemeClr val="accent1"/>
          </a:solidFill>
          <a:ln/>
        </p:spPr>
      </p:sp>
      <p:pic>
        <p:nvPicPr>
          <p:cNvPr id="16" name="Icon 61" descr="preencoded.png">    </p:cNvPr>
          <p:cNvPicPr>
            <a:picLocks noChangeAspect="1"/>
          </p:cNvPicPr>
          <p:nvPr/>
        </p:nvPicPr>
        <p:blipFill>
          <a:blip r:embed="rId3"/>
          <a:stretch>
            <a:fillRect/>
          </a:stretch>
        </p:blipFill>
        <p:spPr>
          <a:xfrm>
            <a:off x="5029200" y="1828800"/>
            <a:ext cx="274320" cy="274320"/>
          </a:xfrm>
          <a:prstGeom prst="rect">
            <a:avLst/>
          </a:prstGeom>
        </p:spPr>
      </p:pic>
      <p:sp>
        <p:nvSpPr>
          <p:cNvPr id="17" name="Text 62"/>
          <p:cNvSpPr txBox="1"/>
          <p:nvPr/>
        </p:nvSpPr>
        <p:spPr>
          <a:xfrm>
            <a:off x="4892040" y="2377440"/>
            <a:ext cx="1463040" cy="365760"/>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Molière</a:t>
            </a:r>
            <a:endParaRPr lang="en-US" sz="1600" dirty="0"/>
          </a:p>
        </p:txBody>
      </p:sp>
      <p:sp>
        <p:nvSpPr>
          <p:cNvPr id="18" name="Text 63"/>
          <p:cNvSpPr txBox="1"/>
          <p:nvPr/>
        </p:nvSpPr>
        <p:spPr>
          <a:xfrm>
            <a:off x="4892040" y="2788920"/>
            <a:ext cx="1463040" cy="1554480"/>
          </a:xfrm>
          <a:prstGeom prst="rect">
            <a:avLst/>
          </a:prstGeom>
          <a:noFill/>
          <a:ln/>
        </p:spPr>
        <p:txBody>
          <a:bodyPr wrap="square" lIns="0" tIns="0" rIns="0" bIns="0" rtlCol="0" anchor="t"/>
          <a:lstStyle/>
          <a:p>
            <a:pPr indent="0" marL="0">
              <a:buNone/>
            </a:pPr>
            <a:r>
              <a:rPr lang="en-US" sz="1400" dirty="0">
                <a:solidFill>
                  <a:schemeClr val="bg1"/>
                </a:solidFill>
              </a:rPr>
              <a:t>Wrote comédie-ballets for King Louis XIV, with mini-operas closing each act.</a:t>
            </a:r>
            <a:endParaRPr lang="en-US" sz="1400" dirty="0"/>
          </a:p>
        </p:txBody>
      </p:sp>
      <p:sp>
        <p:nvSpPr>
          <p:cNvPr id="19" name="Card 64"/>
          <p:cNvSpPr/>
          <p:nvPr/>
        </p:nvSpPr>
        <p:spPr>
          <a:xfrm>
            <a:off x="6789420" y="1508760"/>
            <a:ext cx="1805940" cy="2971800"/>
          </a:xfrm>
          <a:prstGeom prst="roundRect">
            <a:avLst>
              <a:gd name="adj" fmla="val 4051"/>
            </a:avLst>
          </a:prstGeom>
          <a:solidFill>
            <a:schemeClr val="tx2"/>
          </a:solidFill>
          <a:ln/>
        </p:spPr>
      </p:sp>
      <p:sp>
        <p:nvSpPr>
          <p:cNvPr id="20" name="Dot 65"/>
          <p:cNvSpPr/>
          <p:nvPr/>
        </p:nvSpPr>
        <p:spPr>
          <a:xfrm>
            <a:off x="6972300" y="1691640"/>
            <a:ext cx="548640" cy="548640"/>
          </a:xfrm>
          <a:prstGeom prst="ellipse">
            <a:avLst/>
          </a:prstGeom>
          <a:solidFill>
            <a:schemeClr val="accent1"/>
          </a:solidFill>
          <a:ln/>
        </p:spPr>
      </p:sp>
      <p:pic>
        <p:nvPicPr>
          <p:cNvPr id="21" name="Icon 66" descr="preencoded.png">    </p:cNvPr>
          <p:cNvPicPr>
            <a:picLocks noChangeAspect="1"/>
          </p:cNvPicPr>
          <p:nvPr/>
        </p:nvPicPr>
        <p:blipFill>
          <a:blip r:embed="rId4"/>
          <a:stretch>
            <a:fillRect/>
          </a:stretch>
        </p:blipFill>
        <p:spPr>
          <a:xfrm>
            <a:off x="7109460" y="1828800"/>
            <a:ext cx="274320" cy="274320"/>
          </a:xfrm>
          <a:prstGeom prst="rect">
            <a:avLst/>
          </a:prstGeom>
        </p:spPr>
      </p:pic>
      <p:sp>
        <p:nvSpPr>
          <p:cNvPr id="22" name="Text 67"/>
          <p:cNvSpPr txBox="1"/>
          <p:nvPr/>
        </p:nvSpPr>
        <p:spPr>
          <a:xfrm>
            <a:off x="6972300" y="2377440"/>
            <a:ext cx="1463040" cy="365760"/>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Asia</a:t>
            </a:r>
            <a:endParaRPr lang="en-US" sz="1600" dirty="0"/>
          </a:p>
        </p:txBody>
      </p:sp>
      <p:sp>
        <p:nvSpPr>
          <p:cNvPr id="23" name="Text 68"/>
          <p:cNvSpPr txBox="1"/>
          <p:nvPr/>
        </p:nvSpPr>
        <p:spPr>
          <a:xfrm>
            <a:off x="6972300" y="2788920"/>
            <a:ext cx="1463040" cy="1554480"/>
          </a:xfrm>
          <a:prstGeom prst="rect">
            <a:avLst/>
          </a:prstGeom>
          <a:noFill/>
          <a:ln/>
        </p:spPr>
        <p:txBody>
          <a:bodyPr wrap="square" lIns="0" tIns="0" rIns="0" bIns="0" rtlCol="0" anchor="t"/>
          <a:lstStyle/>
          <a:p>
            <a:pPr indent="0" marL="0">
              <a:buNone/>
            </a:pPr>
            <a:r>
              <a:rPr lang="en-US" sz="1400" dirty="0">
                <a:solidFill>
                  <a:schemeClr val="bg1"/>
                </a:solidFill>
              </a:rPr>
              <a:t>Virtually every major Asian dramatic form blends singing, dance, and music.</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lstStyle/>
          <a:p>
            <a:pPr indent="0" marL="0">
              <a:buNone/>
            </a:pPr>
            <a:r>
              <a:rPr lang="en-US" sz="1200" b="1" spc="400" kern="0" dirty="0">
                <a:solidFill>
                  <a:schemeClr val="accent1"/>
                </a:solidFill>
              </a:rPr>
              <a:t>1860s – 1900s</a:t>
            </a:r>
            <a:endParaRPr lang="en-US" sz="1200" dirty="0"/>
          </a:p>
        </p:txBody>
      </p:sp>
      <p:sp>
        <p:nvSpPr>
          <p:cNvPr id="3" name="Text 0"/>
          <p:cNvSpPr/>
          <p:nvPr>
            <p:ph idx="101" type="title" hasCustomPrompt="1"/>
          </p:nvPr>
        </p:nvSpPr>
        <p:spPr>
          <a:xfrm>
            <a:off x="548640" y="621792"/>
            <a:ext cx="8046720" cy="640080"/>
          </a:xfrm>
          <a:prstGeom prst="rect">
            <a:avLst/>
          </a:prstGeom>
          <a:noFill/>
          <a:ln/>
        </p:spPr>
        <p:txBody>
          <a:bodyPr wrap="square" lIns="0" tIns="0" rIns="0" bIns="0" rtlCol="0" anchor="ctr"/>
          <a:lstStyle/>
          <a:p>
            <a:pPr indent="0" marL="0">
              <a:buNone/>
            </a:pPr>
            <a:r>
              <a:rPr lang="en-US" sz="3600" b="1" dirty="0">
                <a:solidFill>
                  <a:schemeClr val="bg1"/>
                </a:solidFill>
              </a:rPr>
              <a:t>Broadway Is Born</a:t>
            </a:r>
            <a:endParaRPr lang="en-US" sz="3600" dirty="0"/>
          </a:p>
        </p:txBody>
      </p:sp>
      <p:sp>
        <p:nvSpPr>
          <p:cNvPr id="4" name="Timeline"/>
          <p:cNvSpPr/>
          <p:nvPr/>
        </p:nvSpPr>
        <p:spPr>
          <a:xfrm>
            <a:off x="822960" y="2258568"/>
            <a:ext cx="7498080" cy="0"/>
          </a:xfrm>
          <a:prstGeom prst="line">
            <a:avLst/>
          </a:prstGeom>
          <a:noFill/>
          <a:ln w="25400">
            <a:solidFill>
              <a:schemeClr val="accent5"/>
            </a:solidFill>
            <a:prstDash val="solid"/>
          </a:ln>
        </p:spPr>
      </p:sp>
      <p:sp>
        <p:nvSpPr>
          <p:cNvPr id="5" name="Text 69"/>
          <p:cNvSpPr txBox="1"/>
          <p:nvPr/>
        </p:nvSpPr>
        <p:spPr>
          <a:xfrm>
            <a:off x="548640" y="1463040"/>
            <a:ext cx="1805940" cy="502920"/>
          </a:xfrm>
          <a:prstGeom prst="rect">
            <a:avLst/>
          </a:prstGeom>
          <a:noFill/>
          <a:ln/>
        </p:spPr>
        <p:txBody>
          <a:bodyPr wrap="square" lIns="0" tIns="0" rIns="0" bIns="0" rtlCol="0" anchor="ctr"/>
          <a:lstStyle/>
          <a:p>
            <a:pPr algn="ctr" indent="0" marL="0">
              <a:buNone/>
            </a:pPr>
            <a:r>
              <a:rPr lang="en-US" sz="2600" b="1" dirty="0">
                <a:solidFill>
                  <a:schemeClr val="accent1"/>
                </a:solidFill>
                <a:latin typeface="+mj-lt" pitchFamily="34" charset="0"/>
                <a:ea typeface="+mj-lt" pitchFamily="34" charset="-122"/>
                <a:cs typeface="+mj-lt" pitchFamily="34" charset="-120"/>
              </a:rPr>
              <a:t>1866</a:t>
            </a:r>
            <a:endParaRPr lang="en-US" sz="2600" dirty="0"/>
          </a:p>
        </p:txBody>
      </p:sp>
      <p:sp>
        <p:nvSpPr>
          <p:cNvPr id="6" name="Dot 70"/>
          <p:cNvSpPr/>
          <p:nvPr/>
        </p:nvSpPr>
        <p:spPr>
          <a:xfrm>
            <a:off x="1332738" y="2139696"/>
            <a:ext cx="237744" cy="237744"/>
          </a:xfrm>
          <a:prstGeom prst="ellipse">
            <a:avLst/>
          </a:prstGeom>
          <a:solidFill>
            <a:schemeClr val="accent1"/>
          </a:solidFill>
          <a:ln/>
        </p:spPr>
      </p:sp>
      <p:sp>
        <p:nvSpPr>
          <p:cNvPr id="7" name="Text 71"/>
          <p:cNvSpPr txBox="1"/>
          <p:nvPr/>
        </p:nvSpPr>
        <p:spPr>
          <a:xfrm>
            <a:off x="548640" y="2560320"/>
            <a:ext cx="1805940" cy="548640"/>
          </a:xfrm>
          <a:prstGeom prst="rect">
            <a:avLst/>
          </a:prstGeom>
          <a:noFill/>
          <a:ln/>
        </p:spPr>
        <p:txBody>
          <a:bodyPr wrap="square" lIns="0" tIns="0" rIns="0" bIns="0" rtlCol="0" anchor="t"/>
          <a:lstStyle/>
          <a:p>
            <a:pPr algn="ctr" indent="0" marL="0">
              <a:buNone/>
            </a:pPr>
            <a:r>
              <a:rPr lang="en-US" sz="1500" b="1" dirty="0">
                <a:solidFill>
                  <a:schemeClr val="bg1"/>
                </a:solidFill>
              </a:rPr>
              <a:t>The Black Crook</a:t>
            </a:r>
            <a:endParaRPr lang="en-US" sz="1500" dirty="0"/>
          </a:p>
        </p:txBody>
      </p:sp>
      <p:sp>
        <p:nvSpPr>
          <p:cNvPr id="8" name="Text 72"/>
          <p:cNvSpPr txBox="1"/>
          <p:nvPr/>
        </p:nvSpPr>
        <p:spPr>
          <a:xfrm>
            <a:off x="594360" y="3108960"/>
            <a:ext cx="1714500" cy="1371600"/>
          </a:xfrm>
          <a:prstGeom prst="rect">
            <a:avLst/>
          </a:prstGeom>
          <a:noFill/>
          <a:ln/>
        </p:spPr>
        <p:txBody>
          <a:bodyPr wrap="square" lIns="0" tIns="0" rIns="0" bIns="0" rtlCol="0" anchor="t"/>
          <a:lstStyle/>
          <a:p>
            <a:pPr algn="ctr" indent="0" marL="0">
              <a:buNone/>
            </a:pPr>
            <a:r>
              <a:rPr lang="en-US" sz="1400" dirty="0">
                <a:solidFill>
                  <a:schemeClr val="accent6"/>
                </a:solidFill>
              </a:rPr>
              <a:t>A plain melodrama plus a stranded French dance troupe becomes America's first true musical.</a:t>
            </a:r>
            <a:endParaRPr lang="en-US" sz="1400" dirty="0"/>
          </a:p>
        </p:txBody>
      </p:sp>
      <p:sp>
        <p:nvSpPr>
          <p:cNvPr id="9" name="Text 73"/>
          <p:cNvSpPr txBox="1"/>
          <p:nvPr/>
        </p:nvSpPr>
        <p:spPr>
          <a:xfrm>
            <a:off x="2628900" y="1463040"/>
            <a:ext cx="1805940" cy="502920"/>
          </a:xfrm>
          <a:prstGeom prst="rect">
            <a:avLst/>
          </a:prstGeom>
          <a:noFill/>
          <a:ln/>
        </p:spPr>
        <p:txBody>
          <a:bodyPr wrap="square" lIns="0" tIns="0" rIns="0" bIns="0" rtlCol="0" anchor="ctr"/>
          <a:lstStyle/>
          <a:p>
            <a:pPr algn="ctr" indent="0" marL="0">
              <a:buNone/>
            </a:pPr>
            <a:r>
              <a:rPr lang="en-US" sz="2600" b="1" dirty="0">
                <a:solidFill>
                  <a:schemeClr val="accent1"/>
                </a:solidFill>
                <a:latin typeface="+mj-lt" pitchFamily="34" charset="0"/>
                <a:ea typeface="+mj-lt" pitchFamily="34" charset="-122"/>
                <a:cs typeface="+mj-lt" pitchFamily="34" charset="-120"/>
              </a:rPr>
              <a:t>1879</a:t>
            </a:r>
            <a:endParaRPr lang="en-US" sz="2600" dirty="0"/>
          </a:p>
        </p:txBody>
      </p:sp>
      <p:sp>
        <p:nvSpPr>
          <p:cNvPr id="10" name="Dot 74"/>
          <p:cNvSpPr/>
          <p:nvPr/>
        </p:nvSpPr>
        <p:spPr>
          <a:xfrm>
            <a:off x="3412998" y="2139696"/>
            <a:ext cx="237744" cy="237744"/>
          </a:xfrm>
          <a:prstGeom prst="ellipse">
            <a:avLst/>
          </a:prstGeom>
          <a:solidFill>
            <a:schemeClr val="accent1"/>
          </a:solidFill>
          <a:ln/>
        </p:spPr>
      </p:sp>
      <p:sp>
        <p:nvSpPr>
          <p:cNvPr id="11" name="Text 75"/>
          <p:cNvSpPr txBox="1"/>
          <p:nvPr/>
        </p:nvSpPr>
        <p:spPr>
          <a:xfrm>
            <a:off x="2628900" y="2560320"/>
            <a:ext cx="1805940" cy="548640"/>
          </a:xfrm>
          <a:prstGeom prst="rect">
            <a:avLst/>
          </a:prstGeom>
          <a:noFill/>
          <a:ln/>
        </p:spPr>
        <p:txBody>
          <a:bodyPr wrap="square" lIns="0" tIns="0" rIns="0" bIns="0" rtlCol="0" anchor="t"/>
          <a:lstStyle/>
          <a:p>
            <a:pPr algn="ctr" indent="0" marL="0">
              <a:buNone/>
            </a:pPr>
            <a:r>
              <a:rPr lang="en-US" sz="1500" b="1" dirty="0">
                <a:solidFill>
                  <a:schemeClr val="bg1"/>
                </a:solidFill>
              </a:rPr>
              <a:t>Pirates of Penzance</a:t>
            </a:r>
            <a:endParaRPr lang="en-US" sz="1500" dirty="0"/>
          </a:p>
        </p:txBody>
      </p:sp>
      <p:sp>
        <p:nvSpPr>
          <p:cNvPr id="12" name="Text 76"/>
          <p:cNvSpPr txBox="1"/>
          <p:nvPr/>
        </p:nvSpPr>
        <p:spPr>
          <a:xfrm>
            <a:off x="2674620" y="3108960"/>
            <a:ext cx="1714500" cy="1371600"/>
          </a:xfrm>
          <a:prstGeom prst="rect">
            <a:avLst/>
          </a:prstGeom>
          <a:noFill/>
          <a:ln/>
        </p:spPr>
        <p:txBody>
          <a:bodyPr wrap="square" lIns="0" tIns="0" rIns="0" bIns="0" rtlCol="0" anchor="t"/>
          <a:lstStyle/>
          <a:p>
            <a:pPr algn="ctr" indent="0" marL="0">
              <a:buNone/>
            </a:pPr>
            <a:r>
              <a:rPr lang="en-US" sz="1400" dirty="0">
                <a:solidFill>
                  <a:schemeClr val="accent6"/>
                </a:solidFill>
              </a:rPr>
              <a:t>Gilbert &amp; Sullivan premiere it in New York, proving musicals can tell a story.</a:t>
            </a:r>
            <a:endParaRPr lang="en-US" sz="1400" dirty="0"/>
          </a:p>
        </p:txBody>
      </p:sp>
      <p:sp>
        <p:nvSpPr>
          <p:cNvPr id="13" name="Text 77"/>
          <p:cNvSpPr txBox="1"/>
          <p:nvPr/>
        </p:nvSpPr>
        <p:spPr>
          <a:xfrm>
            <a:off x="4709160" y="1463040"/>
            <a:ext cx="1805940" cy="502920"/>
          </a:xfrm>
          <a:prstGeom prst="rect">
            <a:avLst/>
          </a:prstGeom>
          <a:noFill/>
          <a:ln/>
        </p:spPr>
        <p:txBody>
          <a:bodyPr wrap="square" lIns="0" tIns="0" rIns="0" bIns="0" rtlCol="0" anchor="ctr"/>
          <a:lstStyle/>
          <a:p>
            <a:pPr algn="ctr" indent="0" marL="0">
              <a:buNone/>
            </a:pPr>
            <a:r>
              <a:rPr lang="en-US" sz="2600" b="1" dirty="0">
                <a:solidFill>
                  <a:schemeClr val="accent1"/>
                </a:solidFill>
                <a:latin typeface="+mj-lt" pitchFamily="34" charset="0"/>
                <a:ea typeface="+mj-lt" pitchFamily="34" charset="-122"/>
                <a:cs typeface="+mj-lt" pitchFamily="34" charset="-120"/>
              </a:rPr>
              <a:t>1898</a:t>
            </a:r>
            <a:endParaRPr lang="en-US" sz="2600" dirty="0"/>
          </a:p>
        </p:txBody>
      </p:sp>
      <p:sp>
        <p:nvSpPr>
          <p:cNvPr id="14" name="Dot 78"/>
          <p:cNvSpPr/>
          <p:nvPr/>
        </p:nvSpPr>
        <p:spPr>
          <a:xfrm>
            <a:off x="5493258" y="2139696"/>
            <a:ext cx="237744" cy="237744"/>
          </a:xfrm>
          <a:prstGeom prst="ellipse">
            <a:avLst/>
          </a:prstGeom>
          <a:solidFill>
            <a:schemeClr val="accent1"/>
          </a:solidFill>
          <a:ln/>
        </p:spPr>
      </p:sp>
      <p:sp>
        <p:nvSpPr>
          <p:cNvPr id="15" name="Text 79"/>
          <p:cNvSpPr txBox="1"/>
          <p:nvPr/>
        </p:nvSpPr>
        <p:spPr>
          <a:xfrm>
            <a:off x="4709160" y="2560320"/>
            <a:ext cx="1805940" cy="548640"/>
          </a:xfrm>
          <a:prstGeom prst="rect">
            <a:avLst/>
          </a:prstGeom>
          <a:noFill/>
          <a:ln/>
        </p:spPr>
        <p:txBody>
          <a:bodyPr wrap="square" lIns="0" tIns="0" rIns="0" bIns="0" rtlCol="0" anchor="t"/>
          <a:lstStyle/>
          <a:p>
            <a:pPr algn="ctr" indent="0" marL="0">
              <a:buNone/>
            </a:pPr>
            <a:r>
              <a:rPr lang="en-US" sz="1500" b="1" dirty="0">
                <a:solidFill>
                  <a:schemeClr val="bg1"/>
                </a:solidFill>
              </a:rPr>
              <a:t>Bob Cole's Black Musical</a:t>
            </a:r>
            <a:endParaRPr lang="en-US" sz="1500" dirty="0"/>
          </a:p>
        </p:txBody>
      </p:sp>
      <p:sp>
        <p:nvSpPr>
          <p:cNvPr id="16" name="Text 80"/>
          <p:cNvSpPr txBox="1"/>
          <p:nvPr/>
        </p:nvSpPr>
        <p:spPr>
          <a:xfrm>
            <a:off x="4754880" y="3108960"/>
            <a:ext cx="1714500" cy="1371600"/>
          </a:xfrm>
          <a:prstGeom prst="rect">
            <a:avLst/>
          </a:prstGeom>
          <a:noFill/>
          <a:ln/>
        </p:spPr>
        <p:txBody>
          <a:bodyPr wrap="square" lIns="0" tIns="0" rIns="0" bIns="0" rtlCol="0" anchor="t"/>
          <a:lstStyle/>
          <a:p>
            <a:pPr algn="ctr" indent="0" marL="0">
              <a:buNone/>
            </a:pPr>
            <a:r>
              <a:rPr lang="en-US" sz="1400" dirty="0">
                <a:solidFill>
                  <a:schemeClr val="accent6"/>
                </a:solidFill>
              </a:rPr>
              <a:t>A full-length comedy by African Americans draws mixed-race crowds.</a:t>
            </a:r>
            <a:endParaRPr lang="en-US" sz="1400" dirty="0"/>
          </a:p>
        </p:txBody>
      </p:sp>
      <p:sp>
        <p:nvSpPr>
          <p:cNvPr id="17" name="Text 81"/>
          <p:cNvSpPr txBox="1"/>
          <p:nvPr/>
        </p:nvSpPr>
        <p:spPr>
          <a:xfrm>
            <a:off x="6789420" y="1463040"/>
            <a:ext cx="1805940" cy="502920"/>
          </a:xfrm>
          <a:prstGeom prst="rect">
            <a:avLst/>
          </a:prstGeom>
          <a:noFill/>
          <a:ln/>
        </p:spPr>
        <p:txBody>
          <a:bodyPr wrap="square" lIns="0" tIns="0" rIns="0" bIns="0" rtlCol="0" anchor="ctr"/>
          <a:lstStyle/>
          <a:p>
            <a:pPr algn="ctr" indent="0" marL="0">
              <a:buNone/>
            </a:pPr>
            <a:r>
              <a:rPr lang="en-US" sz="2600" b="1" dirty="0">
                <a:solidFill>
                  <a:schemeClr val="accent1"/>
                </a:solidFill>
                <a:latin typeface="+mj-lt" pitchFamily="34" charset="0"/>
                <a:ea typeface="+mj-lt" pitchFamily="34" charset="-122"/>
                <a:cs typeface="+mj-lt" pitchFamily="34" charset="-120"/>
              </a:rPr>
              <a:t>1904</a:t>
            </a:r>
            <a:endParaRPr lang="en-US" sz="2600" dirty="0"/>
          </a:p>
        </p:txBody>
      </p:sp>
      <p:sp>
        <p:nvSpPr>
          <p:cNvPr id="18" name="Dot 82"/>
          <p:cNvSpPr/>
          <p:nvPr/>
        </p:nvSpPr>
        <p:spPr>
          <a:xfrm>
            <a:off x="7573518" y="2139696"/>
            <a:ext cx="237744" cy="237744"/>
          </a:xfrm>
          <a:prstGeom prst="ellipse">
            <a:avLst/>
          </a:prstGeom>
          <a:solidFill>
            <a:schemeClr val="accent1"/>
          </a:solidFill>
          <a:ln/>
        </p:spPr>
      </p:sp>
      <p:sp>
        <p:nvSpPr>
          <p:cNvPr id="19" name="Text 83"/>
          <p:cNvSpPr txBox="1"/>
          <p:nvPr/>
        </p:nvSpPr>
        <p:spPr>
          <a:xfrm>
            <a:off x="6789420" y="2560320"/>
            <a:ext cx="1805940" cy="548640"/>
          </a:xfrm>
          <a:prstGeom prst="rect">
            <a:avLst/>
          </a:prstGeom>
          <a:noFill/>
          <a:ln/>
        </p:spPr>
        <p:txBody>
          <a:bodyPr wrap="square" lIns="0" tIns="0" rIns="0" bIns="0" rtlCol="0" anchor="t"/>
          <a:lstStyle/>
          <a:p>
            <a:pPr algn="ctr" indent="0" marL="0">
              <a:buNone/>
            </a:pPr>
            <a:r>
              <a:rPr lang="en-US" sz="1500" b="1" dirty="0">
                <a:solidFill>
                  <a:schemeClr val="bg1"/>
                </a:solidFill>
              </a:rPr>
              <a:t>Little Johnny Jones</a:t>
            </a:r>
            <a:endParaRPr lang="en-US" sz="1500" dirty="0"/>
          </a:p>
        </p:txBody>
      </p:sp>
      <p:sp>
        <p:nvSpPr>
          <p:cNvPr id="20" name="Text 84"/>
          <p:cNvSpPr txBox="1"/>
          <p:nvPr/>
        </p:nvSpPr>
        <p:spPr>
          <a:xfrm>
            <a:off x="6835140" y="3108960"/>
            <a:ext cx="1714500" cy="1371600"/>
          </a:xfrm>
          <a:prstGeom prst="rect">
            <a:avLst/>
          </a:prstGeom>
          <a:noFill/>
          <a:ln/>
        </p:spPr>
        <p:txBody>
          <a:bodyPr wrap="square" lIns="0" tIns="0" rIns="0" bIns="0" rtlCol="0" anchor="t"/>
          <a:lstStyle/>
          <a:p>
            <a:pPr algn="ctr" indent="0" marL="0">
              <a:buNone/>
            </a:pPr>
            <a:r>
              <a:rPr lang="en-US" sz="1400" dirty="0">
                <a:solidFill>
                  <a:schemeClr val="accent6"/>
                </a:solidFill>
              </a:rPr>
              <a:t>George M. Cohan gives us "Give My Regards to Broadway."</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lstStyle/>
          <a:p>
            <a:pPr indent="0" marL="0">
              <a:buNone/>
            </a:pPr>
            <a:r>
              <a:rPr lang="en-US" sz="1200" b="1" spc="400" kern="0" dirty="0">
                <a:solidFill>
                  <a:schemeClr val="accent1"/>
                </a:solidFill>
              </a:rPr>
              <a:t>1900s – 1930s</a:t>
            </a:r>
            <a:endParaRPr lang="en-US" sz="1200" dirty="0"/>
          </a:p>
        </p:txBody>
      </p:sp>
      <p:sp>
        <p:nvSpPr>
          <p:cNvPr id="3" name="Text 0"/>
          <p:cNvSpPr/>
          <p:nvPr>
            <p:ph idx="101" type="title" hasCustomPrompt="1"/>
          </p:nvPr>
        </p:nvSpPr>
        <p:spPr>
          <a:xfrm>
            <a:off x="548640" y="621792"/>
            <a:ext cx="8046720" cy="640080"/>
          </a:xfrm>
          <a:prstGeom prst="rect">
            <a:avLst/>
          </a:prstGeom>
          <a:noFill/>
          <a:ln/>
        </p:spPr>
        <p:txBody>
          <a:bodyPr wrap="square" lIns="0" tIns="0" rIns="0" bIns="0" rtlCol="0" anchor="ctr"/>
          <a:lstStyle/>
          <a:p>
            <a:pPr indent="0" marL="0">
              <a:buNone/>
            </a:pPr>
            <a:r>
              <a:rPr lang="en-US" sz="3600" b="1" dirty="0">
                <a:solidFill>
                  <a:schemeClr val="bg1"/>
                </a:solidFill>
              </a:rPr>
              <a:t>Musical Comedy Takes Over</a:t>
            </a:r>
            <a:endParaRPr lang="en-US" sz="3600" dirty="0"/>
          </a:p>
        </p:txBody>
      </p:sp>
      <p:sp>
        <p:nvSpPr>
          <p:cNvPr id="4" name="Card 85"/>
          <p:cNvSpPr/>
          <p:nvPr/>
        </p:nvSpPr>
        <p:spPr>
          <a:xfrm>
            <a:off x="548640" y="1508760"/>
            <a:ext cx="4572000" cy="2971800"/>
          </a:xfrm>
          <a:prstGeom prst="roundRect">
            <a:avLst>
              <a:gd name="adj" fmla="val 2462"/>
            </a:avLst>
          </a:prstGeom>
          <a:solidFill>
            <a:schemeClr val="tx2"/>
          </a:solidFill>
          <a:ln/>
        </p:spPr>
      </p:sp>
      <p:sp>
        <p:nvSpPr>
          <p:cNvPr id="5" name="Dot 86"/>
          <p:cNvSpPr/>
          <p:nvPr/>
        </p:nvSpPr>
        <p:spPr>
          <a:xfrm>
            <a:off x="777240" y="1737360"/>
            <a:ext cx="548640" cy="548640"/>
          </a:xfrm>
          <a:prstGeom prst="ellipse">
            <a:avLst/>
          </a:prstGeom>
          <a:solidFill>
            <a:schemeClr val="accent1"/>
          </a:solidFill>
          <a:ln/>
        </p:spPr>
      </p:sp>
      <p:pic>
        <p:nvPicPr>
          <p:cNvPr id="6" name="Icon 87" descr="preencoded.png">    </p:cNvPr>
          <p:cNvPicPr>
            <a:picLocks noChangeAspect="1"/>
          </p:cNvPicPr>
          <p:nvPr/>
        </p:nvPicPr>
        <p:blipFill>
          <a:blip r:embed="rId1"/>
          <a:stretch>
            <a:fillRect/>
          </a:stretch>
        </p:blipFill>
        <p:spPr>
          <a:xfrm>
            <a:off x="914400" y="1874520"/>
            <a:ext cx="274320" cy="274320"/>
          </a:xfrm>
          <a:prstGeom prst="rect">
            <a:avLst/>
          </a:prstGeom>
        </p:spPr>
      </p:pic>
      <p:sp>
        <p:nvSpPr>
          <p:cNvPr id="7" name="Text 88"/>
          <p:cNvSpPr txBox="1"/>
          <p:nvPr/>
        </p:nvSpPr>
        <p:spPr>
          <a:xfrm>
            <a:off x="1463040" y="1801368"/>
            <a:ext cx="347472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Midtown: The Hit Factory</a:t>
            </a:r>
            <a:endParaRPr lang="en-US" sz="1800" dirty="0"/>
          </a:p>
        </p:txBody>
      </p:sp>
      <p:sp>
        <p:nvSpPr>
          <p:cNvPr id="8" name="Text 89"/>
          <p:cNvSpPr txBox="1"/>
          <p:nvPr/>
        </p:nvSpPr>
        <p:spPr>
          <a:xfrm>
            <a:off x="777240" y="2468880"/>
            <a:ext cx="4114800" cy="548640"/>
          </a:xfrm>
          <a:prstGeom prst="rect">
            <a:avLst/>
          </a:prstGeom>
          <a:noFill/>
          <a:ln/>
        </p:spPr>
        <p:txBody>
          <a:bodyPr wrap="square" lIns="0" tIns="0" rIns="0" bIns="0" rtlCol="0" anchor="t"/>
          <a:lstStyle/>
          <a:p>
            <a:pPr indent="0" marL="0">
              <a:buNone/>
            </a:pPr>
            <a:r>
              <a:rPr lang="en-US" sz="1500" b="1" dirty="0">
                <a:solidFill>
                  <a:schemeClr val="bg1"/>
                </a:solidFill>
              </a:rPr>
              <a:t>The Gershwins, Jerome Kern, Cole Porter, Rodgers &amp; Hart</a:t>
            </a:r>
            <a:endParaRPr lang="en-US" sz="1500" dirty="0"/>
          </a:p>
        </p:txBody>
      </p:sp>
      <p:sp>
        <p:nvSpPr>
          <p:cNvPr id="9" name="Text 90"/>
          <p:cNvSpPr txBox="1"/>
          <p:nvPr/>
        </p:nvSpPr>
        <p:spPr>
          <a:xfrm>
            <a:off x="777240" y="3063240"/>
            <a:ext cx="4114800" cy="1280160"/>
          </a:xfrm>
          <a:prstGeom prst="rect">
            <a:avLst/>
          </a:prstGeom>
          <a:noFill/>
          <a:ln/>
        </p:spPr>
        <p:txBody>
          <a:bodyPr wrap="square" lIns="0" tIns="0" rIns="0" bIns="0" rtlCol="0" anchor="t"/>
          <a:lstStyle/>
          <a:p>
            <a:pPr indent="0" marL="0">
              <a:buNone/>
            </a:pPr>
            <a:r>
              <a:rPr lang="en-US" sz="1400" dirty="0">
                <a:solidFill>
                  <a:schemeClr val="accent6"/>
                </a:solidFill>
              </a:rPr>
              <a:t>Simple plots, chorus girls, and songs with little connection to the story. The shows were silly, but the songs, like "Embraceable You" and "The Lady Is a Tramp," became jazz standards.</a:t>
            </a:r>
            <a:endParaRPr lang="en-US" sz="1400" dirty="0"/>
          </a:p>
        </p:txBody>
      </p:sp>
      <p:sp>
        <p:nvSpPr>
          <p:cNvPr id="10" name="Card 91"/>
          <p:cNvSpPr/>
          <p:nvPr/>
        </p:nvSpPr>
        <p:spPr>
          <a:xfrm>
            <a:off x="5394960" y="1508760"/>
            <a:ext cx="3200400" cy="2971800"/>
          </a:xfrm>
          <a:prstGeom prst="roundRect">
            <a:avLst>
              <a:gd name="adj" fmla="val 2462"/>
            </a:avLst>
          </a:prstGeom>
          <a:solidFill>
            <a:schemeClr val="accent2"/>
          </a:solidFill>
          <a:ln/>
        </p:spPr>
      </p:sp>
      <p:sp>
        <p:nvSpPr>
          <p:cNvPr id="11" name="Text 92"/>
          <p:cNvSpPr txBox="1"/>
          <p:nvPr/>
        </p:nvSpPr>
        <p:spPr>
          <a:xfrm>
            <a:off x="5623560" y="1737360"/>
            <a:ext cx="2743200"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HARLEM'S HEAT</a:t>
            </a:r>
            <a:endParaRPr lang="en-US" sz="1200" dirty="0"/>
          </a:p>
        </p:txBody>
      </p:sp>
      <p:sp>
        <p:nvSpPr>
          <p:cNvPr id="12" name="Text 93"/>
          <p:cNvSpPr txBox="1"/>
          <p:nvPr/>
        </p:nvSpPr>
        <p:spPr>
          <a:xfrm>
            <a:off x="5623560" y="2011680"/>
            <a:ext cx="2743200" cy="822960"/>
          </a:xfrm>
          <a:prstGeom prst="rect">
            <a:avLst/>
          </a:prstGeom>
          <a:noFill/>
          <a:ln/>
        </p:spPr>
        <p:txBody>
          <a:bodyPr wrap="square" lIns="0" tIns="0" rIns="0" bIns="0" rtlCol="0" anchor="ctr"/>
          <a:lstStyle/>
          <a:p>
            <a:pPr indent="0" marL="0">
              <a:buNone/>
            </a:pPr>
            <a:r>
              <a:rPr lang="en-US" sz="5400" b="1" dirty="0">
                <a:solidFill>
                  <a:schemeClr val="bg1"/>
                </a:solidFill>
                <a:latin typeface="+mj-lt" pitchFamily="34" charset="0"/>
                <a:ea typeface="+mj-lt" pitchFamily="34" charset="-122"/>
                <a:cs typeface="+mj-lt" pitchFamily="34" charset="-120"/>
              </a:rPr>
              <a:t>500+</a:t>
            </a:r>
            <a:endParaRPr lang="en-US" sz="5400" dirty="0"/>
          </a:p>
        </p:txBody>
      </p:sp>
      <p:sp>
        <p:nvSpPr>
          <p:cNvPr id="13" name="Text 94"/>
          <p:cNvSpPr txBox="1"/>
          <p:nvPr/>
        </p:nvSpPr>
        <p:spPr>
          <a:xfrm>
            <a:off x="5623560" y="2880360"/>
            <a:ext cx="2743200" cy="868680"/>
          </a:xfrm>
          <a:prstGeom prst="rect">
            <a:avLst/>
          </a:prstGeom>
          <a:noFill/>
          <a:ln/>
        </p:spPr>
        <p:txBody>
          <a:bodyPr wrap="square" lIns="0" tIns="0" rIns="0" bIns="0" rtlCol="0" anchor="t"/>
          <a:lstStyle/>
          <a:p>
            <a:pPr indent="0" marL="0">
              <a:buNone/>
            </a:pPr>
            <a:r>
              <a:rPr lang="en-US" sz="1400" dirty="0">
                <a:solidFill>
                  <a:schemeClr val="bg1"/>
                </a:solidFill>
              </a:rPr>
              <a:t>performances for Shuffle Along (1921), the first Black musical to rule a whole Broadway season</a:t>
            </a:r>
            <a:endParaRPr lang="en-US" sz="1400" dirty="0"/>
          </a:p>
        </p:txBody>
      </p:sp>
      <p:sp>
        <p:nvSpPr>
          <p:cNvPr id="14" name="Text 95"/>
          <p:cNvSpPr txBox="1"/>
          <p:nvPr/>
        </p:nvSpPr>
        <p:spPr>
          <a:xfrm>
            <a:off x="5623560" y="3794760"/>
            <a:ext cx="2743200" cy="548640"/>
          </a:xfrm>
          <a:prstGeom prst="rect">
            <a:avLst/>
          </a:prstGeom>
          <a:noFill/>
          <a:ln/>
        </p:spPr>
        <p:txBody>
          <a:bodyPr wrap="square" lIns="0" tIns="0" rIns="0" bIns="0" rtlCol="0" anchor="t"/>
          <a:lstStyle/>
          <a:p>
            <a:pPr indent="0" marL="0">
              <a:buNone/>
            </a:pPr>
            <a:r>
              <a:rPr lang="en-US" sz="1300" i="1" dirty="0">
                <a:solidFill>
                  <a:schemeClr val="accent3"/>
                </a:solidFill>
              </a:rPr>
              <a:t>1923: Runnin' Wild sparks the national Charleston craze</a:t>
            </a:r>
            <a:endParaRPr lang="en-US" sz="13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lstStyle/>
          <a:p>
            <a:pPr indent="0" marL="0">
              <a:buNone/>
            </a:pPr>
            <a:r>
              <a:rPr lang="en-US" sz="1200" b="1" spc="400" kern="0" dirty="0">
                <a:solidFill>
                  <a:schemeClr val="accent1"/>
                </a:solidFill>
              </a:rPr>
              <a:t>THE GOLDEN AGE BEGINS</a:t>
            </a:r>
            <a:endParaRPr lang="en-US" sz="1200" dirty="0"/>
          </a:p>
        </p:txBody>
      </p:sp>
      <p:sp>
        <p:nvSpPr>
          <p:cNvPr id="3" name="Text 0"/>
          <p:cNvSpPr/>
          <p:nvPr>
            <p:ph idx="101" type="title" hasCustomPrompt="1"/>
          </p:nvPr>
        </p:nvSpPr>
        <p:spPr>
          <a:xfrm>
            <a:off x="548640" y="621792"/>
            <a:ext cx="8046720" cy="640080"/>
          </a:xfrm>
          <a:prstGeom prst="rect">
            <a:avLst/>
          </a:prstGeom>
          <a:noFill/>
          <a:ln/>
        </p:spPr>
        <p:txBody>
          <a:bodyPr wrap="square" lIns="0" tIns="0" rIns="0" bIns="0" rtlCol="0" anchor="ctr"/>
          <a:lstStyle/>
          <a:p>
            <a:pPr indent="0" marL="0">
              <a:buNone/>
            </a:pPr>
            <a:r>
              <a:rPr lang="en-US" sz="3600" b="1" dirty="0">
                <a:solidFill>
                  <a:schemeClr val="bg1"/>
                </a:solidFill>
              </a:rPr>
              <a:t>The Musical Grows Up</a:t>
            </a:r>
            <a:endParaRPr lang="en-US" sz="3600" dirty="0"/>
          </a:p>
        </p:txBody>
      </p:sp>
      <p:sp>
        <p:nvSpPr>
          <p:cNvPr id="4" name="Card 96"/>
          <p:cNvSpPr/>
          <p:nvPr/>
        </p:nvSpPr>
        <p:spPr>
          <a:xfrm>
            <a:off x="548640" y="1508760"/>
            <a:ext cx="2499055" cy="2971800"/>
          </a:xfrm>
          <a:prstGeom prst="roundRect">
            <a:avLst>
              <a:gd name="adj" fmla="val 2927"/>
            </a:avLst>
          </a:prstGeom>
          <a:solidFill>
            <a:schemeClr val="tx2"/>
          </a:solidFill>
          <a:ln/>
        </p:spPr>
      </p:sp>
      <p:sp>
        <p:nvSpPr>
          <p:cNvPr id="5" name="Text 97"/>
          <p:cNvSpPr txBox="1"/>
          <p:nvPr/>
        </p:nvSpPr>
        <p:spPr>
          <a:xfrm>
            <a:off x="777240" y="1691640"/>
            <a:ext cx="2057400" cy="73152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1927</a:t>
            </a:r>
            <a:endParaRPr lang="en-US" sz="4400" dirty="0"/>
          </a:p>
        </p:txBody>
      </p:sp>
      <p:sp>
        <p:nvSpPr>
          <p:cNvPr id="6" name="Text 98"/>
          <p:cNvSpPr txBox="1"/>
          <p:nvPr/>
        </p:nvSpPr>
        <p:spPr>
          <a:xfrm>
            <a:off x="777240" y="2468880"/>
            <a:ext cx="2057400" cy="411480"/>
          </a:xfrm>
          <a:prstGeom prst="rect">
            <a:avLst/>
          </a:prstGeom>
          <a:noFill/>
          <a:ln/>
        </p:spPr>
        <p:txBody>
          <a:bodyPr wrap="square" lIns="0" tIns="0" rIns="0" bIns="0" rtlCol="0" anchor="ctr"/>
          <a:lstStyle/>
          <a:p>
            <a:pPr indent="0" marL="0">
              <a:buNone/>
            </a:pPr>
            <a:r>
              <a:rPr lang="en-US" sz="1800" b="1" dirty="0">
                <a:solidFill>
                  <a:schemeClr val="bg1"/>
                </a:solidFill>
              </a:rPr>
              <a:t>Show Boat</a:t>
            </a:r>
            <a:endParaRPr lang="en-US" sz="1800" dirty="0"/>
          </a:p>
        </p:txBody>
      </p:sp>
      <p:sp>
        <p:nvSpPr>
          <p:cNvPr id="7" name="Text 99"/>
          <p:cNvSpPr txBox="1"/>
          <p:nvPr/>
        </p:nvSpPr>
        <p:spPr>
          <a:xfrm>
            <a:off x="777240" y="2926080"/>
            <a:ext cx="2057400" cy="1417320"/>
          </a:xfrm>
          <a:prstGeom prst="rect">
            <a:avLst/>
          </a:prstGeom>
          <a:noFill/>
          <a:ln/>
        </p:spPr>
        <p:txBody>
          <a:bodyPr wrap="square" lIns="0" tIns="0" rIns="0" bIns="0" rtlCol="0" anchor="t"/>
          <a:lstStyle/>
          <a:p>
            <a:pPr indent="0" marL="0">
              <a:buNone/>
            </a:pPr>
            <a:r>
              <a:rPr lang="en-US" sz="1400" dirty="0">
                <a:solidFill>
                  <a:schemeClr val="accent6"/>
                </a:solidFill>
              </a:rPr>
              <a:t>Kern &amp; Hammerstein's serious story, carried by song, confronted race relations in America.</a:t>
            </a:r>
            <a:endParaRPr lang="en-US" sz="1400" dirty="0"/>
          </a:p>
        </p:txBody>
      </p:sp>
      <p:sp>
        <p:nvSpPr>
          <p:cNvPr id="8" name="Card 100"/>
          <p:cNvSpPr/>
          <p:nvPr/>
        </p:nvSpPr>
        <p:spPr>
          <a:xfrm>
            <a:off x="3322015" y="1508760"/>
            <a:ext cx="2499055" cy="2971800"/>
          </a:xfrm>
          <a:prstGeom prst="roundRect">
            <a:avLst>
              <a:gd name="adj" fmla="val 2927"/>
            </a:avLst>
          </a:prstGeom>
          <a:solidFill>
            <a:schemeClr val="tx2"/>
          </a:solidFill>
          <a:ln/>
        </p:spPr>
      </p:sp>
      <p:sp>
        <p:nvSpPr>
          <p:cNvPr id="9" name="Text 101"/>
          <p:cNvSpPr txBox="1"/>
          <p:nvPr/>
        </p:nvSpPr>
        <p:spPr>
          <a:xfrm>
            <a:off x="3550615" y="1691640"/>
            <a:ext cx="2057400" cy="73152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1932</a:t>
            </a:r>
            <a:endParaRPr lang="en-US" sz="4400" dirty="0"/>
          </a:p>
        </p:txBody>
      </p:sp>
      <p:sp>
        <p:nvSpPr>
          <p:cNvPr id="10" name="Text 102"/>
          <p:cNvSpPr txBox="1"/>
          <p:nvPr/>
        </p:nvSpPr>
        <p:spPr>
          <a:xfrm>
            <a:off x="3550615" y="2468880"/>
            <a:ext cx="2057400" cy="411480"/>
          </a:xfrm>
          <a:prstGeom prst="rect">
            <a:avLst/>
          </a:prstGeom>
          <a:noFill/>
          <a:ln/>
        </p:spPr>
        <p:txBody>
          <a:bodyPr wrap="square" lIns="0" tIns="0" rIns="0" bIns="0" rtlCol="0" anchor="ctr"/>
          <a:lstStyle/>
          <a:p>
            <a:pPr indent="0" marL="0">
              <a:buNone/>
            </a:pPr>
            <a:r>
              <a:rPr lang="en-US" sz="1800" b="1" dirty="0">
                <a:solidFill>
                  <a:schemeClr val="bg1"/>
                </a:solidFill>
              </a:rPr>
              <a:t>Of Thee I Sing</a:t>
            </a:r>
            <a:endParaRPr lang="en-US" sz="1800" dirty="0"/>
          </a:p>
        </p:txBody>
      </p:sp>
      <p:sp>
        <p:nvSpPr>
          <p:cNvPr id="11" name="Text 103"/>
          <p:cNvSpPr txBox="1"/>
          <p:nvPr/>
        </p:nvSpPr>
        <p:spPr>
          <a:xfrm>
            <a:off x="3550615" y="2926080"/>
            <a:ext cx="2057400" cy="1417320"/>
          </a:xfrm>
          <a:prstGeom prst="rect">
            <a:avLst/>
          </a:prstGeom>
          <a:noFill/>
          <a:ln/>
        </p:spPr>
        <p:txBody>
          <a:bodyPr wrap="square" lIns="0" tIns="0" rIns="0" bIns="0" rtlCol="0" anchor="t"/>
          <a:lstStyle/>
          <a:p>
            <a:pPr indent="0" marL="0">
              <a:buNone/>
            </a:pPr>
            <a:r>
              <a:rPr lang="en-US" sz="1400" dirty="0">
                <a:solidFill>
                  <a:schemeClr val="accent6"/>
                </a:solidFill>
              </a:rPr>
              <a:t>The Gershwins' political satire becomes the first musical to win the Pulitzer Prize.</a:t>
            </a:r>
            <a:endParaRPr lang="en-US" sz="1400" dirty="0"/>
          </a:p>
        </p:txBody>
      </p:sp>
      <p:sp>
        <p:nvSpPr>
          <p:cNvPr id="12" name="Card 104"/>
          <p:cNvSpPr/>
          <p:nvPr/>
        </p:nvSpPr>
        <p:spPr>
          <a:xfrm>
            <a:off x="6095390" y="1508760"/>
            <a:ext cx="2499055" cy="2971800"/>
          </a:xfrm>
          <a:prstGeom prst="roundRect">
            <a:avLst>
              <a:gd name="adj" fmla="val 2927"/>
            </a:avLst>
          </a:prstGeom>
          <a:solidFill>
            <a:schemeClr val="tx2"/>
          </a:solidFill>
          <a:ln/>
        </p:spPr>
      </p:sp>
      <p:sp>
        <p:nvSpPr>
          <p:cNvPr id="13" name="Text 105"/>
          <p:cNvSpPr txBox="1"/>
          <p:nvPr/>
        </p:nvSpPr>
        <p:spPr>
          <a:xfrm>
            <a:off x="6323990" y="1691640"/>
            <a:ext cx="2057400" cy="73152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1943</a:t>
            </a:r>
            <a:endParaRPr lang="en-US" sz="4400" dirty="0"/>
          </a:p>
        </p:txBody>
      </p:sp>
      <p:sp>
        <p:nvSpPr>
          <p:cNvPr id="14" name="Text 106"/>
          <p:cNvSpPr txBox="1"/>
          <p:nvPr/>
        </p:nvSpPr>
        <p:spPr>
          <a:xfrm>
            <a:off x="6323990" y="2468880"/>
            <a:ext cx="2057400" cy="411480"/>
          </a:xfrm>
          <a:prstGeom prst="rect">
            <a:avLst/>
          </a:prstGeom>
          <a:noFill/>
          <a:ln/>
        </p:spPr>
        <p:txBody>
          <a:bodyPr wrap="square" lIns="0" tIns="0" rIns="0" bIns="0" rtlCol="0" anchor="ctr"/>
          <a:lstStyle/>
          <a:p>
            <a:pPr indent="0" marL="0">
              <a:buNone/>
            </a:pPr>
            <a:r>
              <a:rPr lang="en-US" sz="1800" b="1" dirty="0">
                <a:solidFill>
                  <a:schemeClr val="bg1"/>
                </a:solidFill>
              </a:rPr>
              <a:t>Oklahoma!</a:t>
            </a:r>
            <a:endParaRPr lang="en-US" sz="1800" dirty="0"/>
          </a:p>
        </p:txBody>
      </p:sp>
      <p:sp>
        <p:nvSpPr>
          <p:cNvPr id="15" name="Text 107"/>
          <p:cNvSpPr txBox="1"/>
          <p:nvPr/>
        </p:nvSpPr>
        <p:spPr>
          <a:xfrm>
            <a:off x="6323990" y="2926080"/>
            <a:ext cx="2057400" cy="1417320"/>
          </a:xfrm>
          <a:prstGeom prst="rect">
            <a:avLst/>
          </a:prstGeom>
          <a:noFill/>
          <a:ln/>
        </p:spPr>
        <p:txBody>
          <a:bodyPr wrap="square" lIns="0" tIns="0" rIns="0" bIns="0" rtlCol="0" anchor="t"/>
          <a:lstStyle/>
          <a:p>
            <a:pPr indent="0" marL="0">
              <a:buNone/>
            </a:pPr>
            <a:r>
              <a:rPr lang="en-US" sz="1400" dirty="0">
                <a:solidFill>
                  <a:schemeClr val="accent6"/>
                </a:solidFill>
              </a:rPr>
              <a:t>Agnes de Mille's ballets moved the plot forward instead of just decorating it.</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lstStyle/>
          <a:p>
            <a:pPr indent="0" marL="0">
              <a:buNone/>
            </a:pPr>
            <a:r>
              <a:rPr lang="en-US" sz="1200" b="1" spc="400" kern="0" dirty="0">
                <a:solidFill>
                  <a:schemeClr val="accent1"/>
                </a:solidFill>
              </a:rPr>
              <a:t>1940s – 1960s</a:t>
            </a:r>
            <a:endParaRPr lang="en-US" sz="1200" dirty="0"/>
          </a:p>
        </p:txBody>
      </p:sp>
      <p:sp>
        <p:nvSpPr>
          <p:cNvPr id="3" name="Text 0"/>
          <p:cNvSpPr/>
          <p:nvPr>
            <p:ph idx="101" type="title" hasCustomPrompt="1"/>
          </p:nvPr>
        </p:nvSpPr>
        <p:spPr>
          <a:xfrm>
            <a:off x="548640" y="621792"/>
            <a:ext cx="8046720" cy="640080"/>
          </a:xfrm>
          <a:prstGeom prst="rect">
            <a:avLst/>
          </a:prstGeom>
          <a:noFill/>
          <a:ln/>
        </p:spPr>
        <p:txBody>
          <a:bodyPr wrap="square" lIns="0" tIns="0" rIns="0" bIns="0" rtlCol="0" anchor="ctr"/>
          <a:lstStyle/>
          <a:p>
            <a:pPr indent="0" marL="0">
              <a:buNone/>
            </a:pPr>
            <a:r>
              <a:rPr lang="en-US" sz="3600" b="1" dirty="0">
                <a:solidFill>
                  <a:schemeClr val="bg1"/>
                </a:solidFill>
              </a:rPr>
              <a:t>Big Songs, Big Issues</a:t>
            </a:r>
            <a:endParaRPr lang="en-US" sz="3600" dirty="0"/>
          </a:p>
        </p:txBody>
      </p:sp>
      <p:sp>
        <p:nvSpPr>
          <p:cNvPr id="4" name="Card 108"/>
          <p:cNvSpPr/>
          <p:nvPr/>
        </p:nvSpPr>
        <p:spPr>
          <a:xfrm>
            <a:off x="548640" y="1463040"/>
            <a:ext cx="2499055" cy="1051560"/>
          </a:xfrm>
          <a:prstGeom prst="roundRect">
            <a:avLst>
              <a:gd name="adj" fmla="val 6957"/>
            </a:avLst>
          </a:prstGeom>
          <a:solidFill>
            <a:schemeClr val="tx2"/>
          </a:solidFill>
          <a:ln/>
        </p:spPr>
      </p:sp>
      <p:sp>
        <p:nvSpPr>
          <p:cNvPr id="5" name="Text 109"/>
          <p:cNvSpPr txBox="1"/>
          <p:nvPr/>
        </p:nvSpPr>
        <p:spPr>
          <a:xfrm>
            <a:off x="749808" y="1618488"/>
            <a:ext cx="2103120" cy="365760"/>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Carousel</a:t>
            </a:r>
            <a:endParaRPr lang="en-US" sz="1600" dirty="0"/>
          </a:p>
        </p:txBody>
      </p:sp>
      <p:sp>
        <p:nvSpPr>
          <p:cNvPr id="6" name="Text 110"/>
          <p:cNvSpPr txBox="1"/>
          <p:nvPr/>
        </p:nvSpPr>
        <p:spPr>
          <a:xfrm>
            <a:off x="749808" y="1993392"/>
            <a:ext cx="2103120" cy="411480"/>
          </a:xfrm>
          <a:prstGeom prst="rect">
            <a:avLst/>
          </a:prstGeom>
          <a:noFill/>
          <a:ln/>
        </p:spPr>
        <p:txBody>
          <a:bodyPr wrap="square" lIns="0" tIns="0" rIns="0" bIns="0" rtlCol="0" anchor="t"/>
          <a:lstStyle/>
          <a:p>
            <a:pPr indent="0" marL="0">
              <a:buNone/>
            </a:pPr>
            <a:r>
              <a:rPr lang="en-US" sz="1400" dirty="0">
                <a:solidFill>
                  <a:schemeClr val="bg1"/>
                </a:solidFill>
              </a:rPr>
              <a:t>Spousal abuse</a:t>
            </a:r>
            <a:endParaRPr lang="en-US" sz="1400" dirty="0"/>
          </a:p>
        </p:txBody>
      </p:sp>
      <p:sp>
        <p:nvSpPr>
          <p:cNvPr id="7" name="Card 111"/>
          <p:cNvSpPr/>
          <p:nvPr/>
        </p:nvSpPr>
        <p:spPr>
          <a:xfrm>
            <a:off x="3322015" y="1463040"/>
            <a:ext cx="2499055" cy="1051560"/>
          </a:xfrm>
          <a:prstGeom prst="roundRect">
            <a:avLst>
              <a:gd name="adj" fmla="val 6957"/>
            </a:avLst>
          </a:prstGeom>
          <a:solidFill>
            <a:schemeClr val="tx2"/>
          </a:solidFill>
          <a:ln/>
        </p:spPr>
      </p:sp>
      <p:sp>
        <p:nvSpPr>
          <p:cNvPr id="8" name="Text 112"/>
          <p:cNvSpPr txBox="1"/>
          <p:nvPr/>
        </p:nvSpPr>
        <p:spPr>
          <a:xfrm>
            <a:off x="3523183" y="1618488"/>
            <a:ext cx="2103120" cy="365760"/>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South Pacific</a:t>
            </a:r>
            <a:endParaRPr lang="en-US" sz="1600" dirty="0"/>
          </a:p>
        </p:txBody>
      </p:sp>
      <p:sp>
        <p:nvSpPr>
          <p:cNvPr id="9" name="Text 113"/>
          <p:cNvSpPr txBox="1"/>
          <p:nvPr/>
        </p:nvSpPr>
        <p:spPr>
          <a:xfrm>
            <a:off x="3523183" y="1993392"/>
            <a:ext cx="2103120" cy="411480"/>
          </a:xfrm>
          <a:prstGeom prst="rect">
            <a:avLst/>
          </a:prstGeom>
          <a:noFill/>
          <a:ln/>
        </p:spPr>
        <p:txBody>
          <a:bodyPr wrap="square" lIns="0" tIns="0" rIns="0" bIns="0" rtlCol="0" anchor="t"/>
          <a:lstStyle/>
          <a:p>
            <a:pPr indent="0" marL="0">
              <a:buNone/>
            </a:pPr>
            <a:r>
              <a:rPr lang="en-US" sz="1400" dirty="0">
                <a:solidFill>
                  <a:schemeClr val="bg1"/>
                </a:solidFill>
              </a:rPr>
              <a:t>Racial prejudice</a:t>
            </a:r>
            <a:endParaRPr lang="en-US" sz="1400" dirty="0"/>
          </a:p>
        </p:txBody>
      </p:sp>
      <p:sp>
        <p:nvSpPr>
          <p:cNvPr id="10" name="Card 114"/>
          <p:cNvSpPr/>
          <p:nvPr/>
        </p:nvSpPr>
        <p:spPr>
          <a:xfrm>
            <a:off x="6095390" y="1463040"/>
            <a:ext cx="2499055" cy="1051560"/>
          </a:xfrm>
          <a:prstGeom prst="roundRect">
            <a:avLst>
              <a:gd name="adj" fmla="val 6957"/>
            </a:avLst>
          </a:prstGeom>
          <a:solidFill>
            <a:schemeClr val="tx2"/>
          </a:solidFill>
          <a:ln/>
        </p:spPr>
      </p:sp>
      <p:sp>
        <p:nvSpPr>
          <p:cNvPr id="11" name="Text 115"/>
          <p:cNvSpPr txBox="1"/>
          <p:nvPr/>
        </p:nvSpPr>
        <p:spPr>
          <a:xfrm>
            <a:off x="6296558" y="1618488"/>
            <a:ext cx="2103120" cy="365760"/>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The King and I</a:t>
            </a:r>
            <a:endParaRPr lang="en-US" sz="1600" dirty="0"/>
          </a:p>
        </p:txBody>
      </p:sp>
      <p:sp>
        <p:nvSpPr>
          <p:cNvPr id="12" name="Text 116"/>
          <p:cNvSpPr txBox="1"/>
          <p:nvPr/>
        </p:nvSpPr>
        <p:spPr>
          <a:xfrm>
            <a:off x="6296558" y="1993392"/>
            <a:ext cx="2103120" cy="411480"/>
          </a:xfrm>
          <a:prstGeom prst="rect">
            <a:avLst/>
          </a:prstGeom>
          <a:noFill/>
          <a:ln/>
        </p:spPr>
        <p:txBody>
          <a:bodyPr wrap="square" lIns="0" tIns="0" rIns="0" bIns="0" rtlCol="0" anchor="t"/>
          <a:lstStyle/>
          <a:p>
            <a:pPr indent="0" marL="0">
              <a:buNone/>
            </a:pPr>
            <a:r>
              <a:rPr lang="en-US" sz="1400" dirty="0">
                <a:solidFill>
                  <a:schemeClr val="bg1"/>
                </a:solidFill>
              </a:rPr>
              <a:t>Gender prejudice</a:t>
            </a:r>
            <a:endParaRPr lang="en-US" sz="1400" dirty="0"/>
          </a:p>
        </p:txBody>
      </p:sp>
      <p:sp>
        <p:nvSpPr>
          <p:cNvPr id="13" name="Card 117"/>
          <p:cNvSpPr/>
          <p:nvPr/>
        </p:nvSpPr>
        <p:spPr>
          <a:xfrm>
            <a:off x="548640" y="2743200"/>
            <a:ext cx="2499055" cy="1051560"/>
          </a:xfrm>
          <a:prstGeom prst="roundRect">
            <a:avLst>
              <a:gd name="adj" fmla="val 6957"/>
            </a:avLst>
          </a:prstGeom>
          <a:solidFill>
            <a:schemeClr val="tx2"/>
          </a:solidFill>
          <a:ln/>
        </p:spPr>
      </p:sp>
      <p:sp>
        <p:nvSpPr>
          <p:cNvPr id="14" name="Text 118"/>
          <p:cNvSpPr txBox="1"/>
          <p:nvPr/>
        </p:nvSpPr>
        <p:spPr>
          <a:xfrm>
            <a:off x="749808" y="2898648"/>
            <a:ext cx="2103120" cy="365760"/>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The Sound of Music</a:t>
            </a:r>
            <a:endParaRPr lang="en-US" sz="1600" dirty="0"/>
          </a:p>
        </p:txBody>
      </p:sp>
      <p:sp>
        <p:nvSpPr>
          <p:cNvPr id="15" name="Text 119"/>
          <p:cNvSpPr txBox="1"/>
          <p:nvPr/>
        </p:nvSpPr>
        <p:spPr>
          <a:xfrm>
            <a:off x="749808" y="3273552"/>
            <a:ext cx="2103120" cy="411480"/>
          </a:xfrm>
          <a:prstGeom prst="rect">
            <a:avLst/>
          </a:prstGeom>
          <a:noFill/>
          <a:ln/>
        </p:spPr>
        <p:txBody>
          <a:bodyPr wrap="square" lIns="0" tIns="0" rIns="0" bIns="0" rtlCol="0" anchor="t"/>
          <a:lstStyle/>
          <a:p>
            <a:pPr indent="0" marL="0">
              <a:buNone/>
            </a:pPr>
            <a:r>
              <a:rPr lang="en-US" sz="1400" dirty="0">
                <a:solidFill>
                  <a:schemeClr val="bg1"/>
                </a:solidFill>
              </a:rPr>
              <a:t>The rise of Nazism</a:t>
            </a:r>
            <a:endParaRPr lang="en-US" sz="1400" dirty="0"/>
          </a:p>
        </p:txBody>
      </p:sp>
      <p:sp>
        <p:nvSpPr>
          <p:cNvPr id="16" name="Card 120"/>
          <p:cNvSpPr/>
          <p:nvPr/>
        </p:nvSpPr>
        <p:spPr>
          <a:xfrm>
            <a:off x="3322015" y="2743200"/>
            <a:ext cx="2499055" cy="1051560"/>
          </a:xfrm>
          <a:prstGeom prst="roundRect">
            <a:avLst>
              <a:gd name="adj" fmla="val 6957"/>
            </a:avLst>
          </a:prstGeom>
          <a:solidFill>
            <a:schemeClr val="tx2"/>
          </a:solidFill>
          <a:ln/>
        </p:spPr>
      </p:sp>
      <p:sp>
        <p:nvSpPr>
          <p:cNvPr id="17" name="Text 121"/>
          <p:cNvSpPr txBox="1"/>
          <p:nvPr/>
        </p:nvSpPr>
        <p:spPr>
          <a:xfrm>
            <a:off x="3523183" y="2898648"/>
            <a:ext cx="2103120" cy="365760"/>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West Side Story</a:t>
            </a:r>
            <a:endParaRPr lang="en-US" sz="1600" dirty="0"/>
          </a:p>
        </p:txBody>
      </p:sp>
      <p:sp>
        <p:nvSpPr>
          <p:cNvPr id="18" name="Text 122"/>
          <p:cNvSpPr txBox="1"/>
          <p:nvPr/>
        </p:nvSpPr>
        <p:spPr>
          <a:xfrm>
            <a:off x="3523183" y="3273552"/>
            <a:ext cx="2103120" cy="411480"/>
          </a:xfrm>
          <a:prstGeom prst="rect">
            <a:avLst/>
          </a:prstGeom>
          <a:noFill/>
          <a:ln/>
        </p:spPr>
        <p:txBody>
          <a:bodyPr wrap="square" lIns="0" tIns="0" rIns="0" bIns="0" rtlCol="0" anchor="t"/>
          <a:lstStyle/>
          <a:p>
            <a:pPr indent="0" marL="0">
              <a:buNone/>
            </a:pPr>
            <a:r>
              <a:rPr lang="en-US" sz="1400" dirty="0">
                <a:solidFill>
                  <a:schemeClr val="bg1"/>
                </a:solidFill>
              </a:rPr>
              <a:t>Romeo &amp; Juliet amid NYC gang rivalry</a:t>
            </a:r>
            <a:endParaRPr lang="en-US" sz="1400" dirty="0"/>
          </a:p>
        </p:txBody>
      </p:sp>
      <p:sp>
        <p:nvSpPr>
          <p:cNvPr id="19" name="Card 123"/>
          <p:cNvSpPr/>
          <p:nvPr/>
        </p:nvSpPr>
        <p:spPr>
          <a:xfrm>
            <a:off x="6095390" y="2743200"/>
            <a:ext cx="2499055" cy="1051560"/>
          </a:xfrm>
          <a:prstGeom prst="roundRect">
            <a:avLst>
              <a:gd name="adj" fmla="val 6957"/>
            </a:avLst>
          </a:prstGeom>
          <a:solidFill>
            <a:schemeClr val="tx2"/>
          </a:solidFill>
          <a:ln/>
        </p:spPr>
      </p:sp>
      <p:sp>
        <p:nvSpPr>
          <p:cNvPr id="20" name="Text 124"/>
          <p:cNvSpPr txBox="1"/>
          <p:nvPr/>
        </p:nvSpPr>
        <p:spPr>
          <a:xfrm>
            <a:off x="6296558" y="2898648"/>
            <a:ext cx="2103120" cy="365760"/>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Fiddler on the Roof</a:t>
            </a:r>
            <a:endParaRPr lang="en-US" sz="1600" dirty="0"/>
          </a:p>
        </p:txBody>
      </p:sp>
      <p:sp>
        <p:nvSpPr>
          <p:cNvPr id="21" name="Text 125"/>
          <p:cNvSpPr txBox="1"/>
          <p:nvPr/>
        </p:nvSpPr>
        <p:spPr>
          <a:xfrm>
            <a:off x="6296558" y="3273552"/>
            <a:ext cx="2103120" cy="411480"/>
          </a:xfrm>
          <a:prstGeom prst="rect">
            <a:avLst/>
          </a:prstGeom>
          <a:noFill/>
          <a:ln/>
        </p:spPr>
        <p:txBody>
          <a:bodyPr wrap="square" lIns="0" tIns="0" rIns="0" bIns="0" rtlCol="0" anchor="t"/>
          <a:lstStyle/>
          <a:p>
            <a:pPr indent="0" marL="0">
              <a:buNone/>
            </a:pPr>
            <a:r>
              <a:rPr lang="en-US" sz="1400" dirty="0">
                <a:solidFill>
                  <a:schemeClr val="bg1"/>
                </a:solidFill>
              </a:rPr>
              <a:t>Jewish life in tsarist Russia</a:t>
            </a:r>
            <a:endParaRPr lang="en-US" sz="1400" dirty="0"/>
          </a:p>
        </p:txBody>
      </p:sp>
      <p:sp>
        <p:nvSpPr>
          <p:cNvPr id="22" name="Dot 126"/>
          <p:cNvSpPr/>
          <p:nvPr/>
        </p:nvSpPr>
        <p:spPr>
          <a:xfrm>
            <a:off x="548640" y="3977640"/>
            <a:ext cx="457200" cy="457200"/>
          </a:xfrm>
          <a:prstGeom prst="ellipse">
            <a:avLst/>
          </a:prstGeom>
          <a:solidFill>
            <a:schemeClr val="accent1"/>
          </a:solidFill>
          <a:ln/>
        </p:spPr>
      </p:sp>
      <p:pic>
        <p:nvPicPr>
          <p:cNvPr id="23" name="Icon 127" descr="preencoded.png">    </p:cNvPr>
          <p:cNvPicPr>
            <a:picLocks noChangeAspect="1"/>
          </p:cNvPicPr>
          <p:nvPr/>
        </p:nvPicPr>
        <p:blipFill>
          <a:blip r:embed="rId1"/>
          <a:stretch>
            <a:fillRect/>
          </a:stretch>
        </p:blipFill>
        <p:spPr>
          <a:xfrm>
            <a:off x="662940" y="4091940"/>
            <a:ext cx="228600" cy="228600"/>
          </a:xfrm>
          <a:prstGeom prst="rect">
            <a:avLst/>
          </a:prstGeom>
        </p:spPr>
      </p:pic>
      <p:sp>
        <p:nvSpPr>
          <p:cNvPr id="24" name="Text 128"/>
          <p:cNvSpPr txBox="1"/>
          <p:nvPr/>
        </p:nvSpPr>
        <p:spPr>
          <a:xfrm>
            <a:off x="1188720" y="3977640"/>
            <a:ext cx="7406640" cy="457200"/>
          </a:xfrm>
          <a:prstGeom prst="rect">
            <a:avLst/>
          </a:prstGeom>
          <a:noFill/>
          <a:ln/>
        </p:spPr>
        <p:txBody>
          <a:bodyPr wrap="square" lIns="0" tIns="0" rIns="0" bIns="0" rtlCol="0" anchor="ctr"/>
          <a:lstStyle/>
          <a:p>
            <a:pPr indent="0" marL="0">
              <a:buNone/>
            </a:pPr>
            <a:r>
              <a:rPr lang="en-US" sz="1500" i="1" dirty="0">
                <a:solidFill>
                  <a:schemeClr val="accent3"/>
                </a:solidFill>
              </a:rPr>
              <a:t>Hits ran for years, tickets sold six months ahead, and Broadway tunes topped the radio hit parade.</a:t>
            </a:r>
            <a:endParaRPr lang="en-US" sz="15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lstStyle/>
          <a:p>
            <a:pPr indent="0" marL="0">
              <a:buNone/>
            </a:pPr>
            <a:r>
              <a:rPr lang="en-US" sz="1200" b="1" spc="400" kern="0" dirty="0">
                <a:solidFill>
                  <a:schemeClr val="accent1"/>
                </a:solidFill>
              </a:rPr>
              <a:t>THE CHOREOGRAPHER-DIRECTORS</a:t>
            </a:r>
            <a:endParaRPr lang="en-US" sz="1200" dirty="0"/>
          </a:p>
        </p:txBody>
      </p:sp>
      <p:sp>
        <p:nvSpPr>
          <p:cNvPr id="3" name="Text 0"/>
          <p:cNvSpPr/>
          <p:nvPr>
            <p:ph idx="101" type="title" hasCustomPrompt="1"/>
          </p:nvPr>
        </p:nvSpPr>
        <p:spPr>
          <a:xfrm>
            <a:off x="548640" y="621792"/>
            <a:ext cx="8046720" cy="640080"/>
          </a:xfrm>
          <a:prstGeom prst="rect">
            <a:avLst/>
          </a:prstGeom>
          <a:noFill/>
          <a:ln/>
        </p:spPr>
        <p:txBody>
          <a:bodyPr wrap="square" lIns="0" tIns="0" rIns="0" bIns="0" rtlCol="0" anchor="ctr"/>
          <a:lstStyle/>
          <a:p>
            <a:pPr indent="0" marL="0">
              <a:buNone/>
            </a:pPr>
            <a:r>
              <a:rPr lang="en-US" sz="3600" b="1" dirty="0">
                <a:solidFill>
                  <a:schemeClr val="bg1"/>
                </a:solidFill>
              </a:rPr>
              <a:t>Dance Takes Command</a:t>
            </a:r>
            <a:endParaRPr lang="en-US" sz="3600" dirty="0"/>
          </a:p>
        </p:txBody>
      </p:sp>
      <p:sp>
        <p:nvSpPr>
          <p:cNvPr id="4" name="Card 129"/>
          <p:cNvSpPr/>
          <p:nvPr/>
        </p:nvSpPr>
        <p:spPr>
          <a:xfrm>
            <a:off x="548640" y="1508760"/>
            <a:ext cx="2926080" cy="2971800"/>
          </a:xfrm>
          <a:prstGeom prst="roundRect">
            <a:avLst>
              <a:gd name="adj" fmla="val 2500"/>
            </a:avLst>
          </a:prstGeom>
          <a:solidFill>
            <a:schemeClr val="accent2"/>
          </a:solidFill>
          <a:ln/>
        </p:spPr>
      </p:sp>
      <p:sp>
        <p:nvSpPr>
          <p:cNvPr id="5" name="Dot 130"/>
          <p:cNvSpPr/>
          <p:nvPr/>
        </p:nvSpPr>
        <p:spPr>
          <a:xfrm>
            <a:off x="777240" y="1737360"/>
            <a:ext cx="502920" cy="502920"/>
          </a:xfrm>
          <a:prstGeom prst="ellipse">
            <a:avLst/>
          </a:prstGeom>
          <a:solidFill>
            <a:schemeClr val="accent1"/>
          </a:solidFill>
          <a:ln/>
        </p:spPr>
      </p:sp>
      <p:pic>
        <p:nvPicPr>
          <p:cNvPr id="6" name="Icon 131" descr="preencoded.png">    </p:cNvPr>
          <p:cNvPicPr>
            <a:picLocks noChangeAspect="1"/>
          </p:cNvPicPr>
          <p:nvPr/>
        </p:nvPicPr>
        <p:blipFill>
          <a:blip r:embed="rId1"/>
          <a:stretch>
            <a:fillRect/>
          </a:stretch>
        </p:blipFill>
        <p:spPr>
          <a:xfrm>
            <a:off x="902970" y="1863090"/>
            <a:ext cx="251460" cy="251460"/>
          </a:xfrm>
          <a:prstGeom prst="rect">
            <a:avLst/>
          </a:prstGeom>
        </p:spPr>
      </p:pic>
      <p:sp>
        <p:nvSpPr>
          <p:cNvPr id="7" name="Text 132"/>
          <p:cNvSpPr txBox="1"/>
          <p:nvPr/>
        </p:nvSpPr>
        <p:spPr>
          <a:xfrm>
            <a:off x="777240" y="2377440"/>
            <a:ext cx="2560320" cy="822960"/>
          </a:xfrm>
          <a:prstGeom prst="rect">
            <a:avLst/>
          </a:prstGeom>
          <a:noFill/>
          <a:ln/>
        </p:spPr>
        <p:txBody>
          <a:bodyPr wrap="square" lIns="0" tIns="0" rIns="0" bIns="0" rtlCol="0" anchor="ctr"/>
          <a:lstStyle/>
          <a:p>
            <a:pPr indent="0" marL="0">
              <a:buNone/>
            </a:pPr>
            <a:r>
              <a:rPr lang="en-US" sz="5200" b="1" dirty="0">
                <a:solidFill>
                  <a:schemeClr val="bg1"/>
                </a:solidFill>
                <a:latin typeface="+mj-lt" pitchFamily="34" charset="0"/>
                <a:ea typeface="+mj-lt" pitchFamily="34" charset="-122"/>
                <a:cs typeface="+mj-lt" pitchFamily="34" charset="-120"/>
              </a:rPr>
              <a:t>6,137</a:t>
            </a:r>
            <a:endParaRPr lang="en-US" sz="5200" dirty="0"/>
          </a:p>
        </p:txBody>
      </p:sp>
      <p:sp>
        <p:nvSpPr>
          <p:cNvPr id="8" name="Text 133"/>
          <p:cNvSpPr txBox="1"/>
          <p:nvPr/>
        </p:nvSpPr>
        <p:spPr>
          <a:xfrm>
            <a:off x="777240" y="3246120"/>
            <a:ext cx="2514600" cy="1097280"/>
          </a:xfrm>
          <a:prstGeom prst="rect">
            <a:avLst/>
          </a:prstGeom>
          <a:noFill/>
          <a:ln/>
        </p:spPr>
        <p:txBody>
          <a:bodyPr wrap="square" lIns="0" tIns="0" rIns="0" bIns="0" rtlCol="0" anchor="t"/>
          <a:lstStyle/>
          <a:p>
            <a:pPr indent="0" marL="0">
              <a:buNone/>
            </a:pPr>
            <a:r>
              <a:rPr lang="en-US" sz="1400" dirty="0">
                <a:solidFill>
                  <a:schemeClr val="bg1"/>
                </a:solidFill>
              </a:rPr>
              <a:t>performances of A Chorus Line (1975), a musical about musicals that ran 15 years</a:t>
            </a:r>
            <a:endParaRPr lang="en-US" sz="1400" dirty="0"/>
          </a:p>
        </p:txBody>
      </p:sp>
      <p:sp>
        <p:nvSpPr>
          <p:cNvPr id="9" name="Text 134"/>
          <p:cNvSpPr txBox="1"/>
          <p:nvPr/>
        </p:nvSpPr>
        <p:spPr>
          <a:xfrm>
            <a:off x="3840480" y="1508760"/>
            <a:ext cx="4754880" cy="320040"/>
          </a:xfrm>
          <a:prstGeom prst="rect">
            <a:avLst/>
          </a:prstGeom>
          <a:noFill/>
          <a:ln/>
        </p:spPr>
        <p:txBody>
          <a:bodyPr wrap="square" lIns="0" tIns="0" rIns="0" bIns="0" rtlCol="0" anchor="ctr"/>
          <a:lstStyle/>
          <a:p>
            <a:pPr indent="0" marL="0">
              <a:buNone/>
            </a:pPr>
            <a:r>
              <a:rPr lang="en-US" sz="1700" b="1" dirty="0">
                <a:solidFill>
                  <a:schemeClr val="accent1"/>
                </a:solidFill>
                <a:latin typeface="+mj-lt" pitchFamily="34" charset="0"/>
                <a:ea typeface="+mj-lt" pitchFamily="34" charset="-122"/>
                <a:cs typeface="+mj-lt" pitchFamily="34" charset="-120"/>
              </a:rPr>
              <a:t>Jerome Robbins</a:t>
            </a:r>
            <a:endParaRPr lang="en-US" sz="1700" dirty="0"/>
          </a:p>
        </p:txBody>
      </p:sp>
      <p:sp>
        <p:nvSpPr>
          <p:cNvPr id="10" name="Text 135"/>
          <p:cNvSpPr txBox="1"/>
          <p:nvPr/>
        </p:nvSpPr>
        <p:spPr>
          <a:xfrm>
            <a:off x="3840480" y="1837944"/>
            <a:ext cx="4754880" cy="320040"/>
          </a:xfrm>
          <a:prstGeom prst="rect">
            <a:avLst/>
          </a:prstGeom>
          <a:noFill/>
          <a:ln/>
        </p:spPr>
        <p:txBody>
          <a:bodyPr wrap="square" lIns="0" tIns="0" rIns="0" bIns="0" rtlCol="0" anchor="ctr"/>
          <a:lstStyle/>
          <a:p>
            <a:pPr indent="0" marL="0">
              <a:buNone/>
            </a:pPr>
            <a:r>
              <a:rPr lang="en-US" sz="1400" dirty="0">
                <a:solidFill>
                  <a:schemeClr val="bg1"/>
                </a:solidFill>
              </a:rPr>
              <a:t>Street-rumble dances of West Side Story; directed Fiddler</a:t>
            </a:r>
            <a:endParaRPr lang="en-US" sz="1400" dirty="0"/>
          </a:p>
        </p:txBody>
      </p:sp>
      <p:sp>
        <p:nvSpPr>
          <p:cNvPr id="11" name="Text 136"/>
          <p:cNvSpPr txBox="1"/>
          <p:nvPr/>
        </p:nvSpPr>
        <p:spPr>
          <a:xfrm>
            <a:off x="3840480" y="2267712"/>
            <a:ext cx="4754880" cy="320040"/>
          </a:xfrm>
          <a:prstGeom prst="rect">
            <a:avLst/>
          </a:prstGeom>
          <a:noFill/>
          <a:ln/>
        </p:spPr>
        <p:txBody>
          <a:bodyPr wrap="square" lIns="0" tIns="0" rIns="0" bIns="0" rtlCol="0" anchor="ctr"/>
          <a:lstStyle/>
          <a:p>
            <a:pPr indent="0" marL="0">
              <a:buNone/>
            </a:pPr>
            <a:r>
              <a:rPr lang="en-US" sz="1700" b="1" dirty="0">
                <a:solidFill>
                  <a:schemeClr val="accent1"/>
                </a:solidFill>
                <a:latin typeface="+mj-lt" pitchFamily="34" charset="0"/>
                <a:ea typeface="+mj-lt" pitchFamily="34" charset="-122"/>
                <a:cs typeface="+mj-lt" pitchFamily="34" charset="-120"/>
              </a:rPr>
              <a:t>Bob Fosse</a:t>
            </a:r>
            <a:endParaRPr lang="en-US" sz="1700" dirty="0"/>
          </a:p>
        </p:txBody>
      </p:sp>
      <p:sp>
        <p:nvSpPr>
          <p:cNvPr id="12" name="Text 137"/>
          <p:cNvSpPr txBox="1"/>
          <p:nvPr/>
        </p:nvSpPr>
        <p:spPr>
          <a:xfrm>
            <a:off x="3840480" y="2596896"/>
            <a:ext cx="4754880" cy="320040"/>
          </a:xfrm>
          <a:prstGeom prst="rect">
            <a:avLst/>
          </a:prstGeom>
          <a:noFill/>
          <a:ln/>
        </p:spPr>
        <p:txBody>
          <a:bodyPr wrap="square" lIns="0" tIns="0" rIns="0" bIns="0" rtlCol="0" anchor="ctr"/>
          <a:lstStyle/>
          <a:p>
            <a:pPr indent="0" marL="0">
              <a:buNone/>
            </a:pPr>
            <a:r>
              <a:rPr lang="en-US" sz="1400" dirty="0">
                <a:solidFill>
                  <a:schemeClr val="bg1"/>
                </a:solidFill>
              </a:rPr>
              <a:t>Jerky-to-sinuous moves, bowler hats: Chicago</a:t>
            </a:r>
            <a:endParaRPr lang="en-US" sz="1400" dirty="0"/>
          </a:p>
        </p:txBody>
      </p:sp>
      <p:sp>
        <p:nvSpPr>
          <p:cNvPr id="13" name="Text 138"/>
          <p:cNvSpPr txBox="1"/>
          <p:nvPr/>
        </p:nvSpPr>
        <p:spPr>
          <a:xfrm>
            <a:off x="3840480" y="3026664"/>
            <a:ext cx="4754880" cy="320040"/>
          </a:xfrm>
          <a:prstGeom prst="rect">
            <a:avLst/>
          </a:prstGeom>
          <a:noFill/>
          <a:ln/>
        </p:spPr>
        <p:txBody>
          <a:bodyPr wrap="square" lIns="0" tIns="0" rIns="0" bIns="0" rtlCol="0" anchor="ctr"/>
          <a:lstStyle/>
          <a:p>
            <a:pPr indent="0" marL="0">
              <a:buNone/>
            </a:pPr>
            <a:r>
              <a:rPr lang="en-US" sz="1700" b="1" dirty="0">
                <a:solidFill>
                  <a:schemeClr val="accent1"/>
                </a:solidFill>
                <a:latin typeface="+mj-lt" pitchFamily="34" charset="0"/>
                <a:ea typeface="+mj-lt" pitchFamily="34" charset="-122"/>
                <a:cs typeface="+mj-lt" pitchFamily="34" charset="-120"/>
              </a:rPr>
              <a:t>Michael Bennett</a:t>
            </a:r>
            <a:endParaRPr lang="en-US" sz="1700" dirty="0"/>
          </a:p>
        </p:txBody>
      </p:sp>
      <p:sp>
        <p:nvSpPr>
          <p:cNvPr id="14" name="Text 139"/>
          <p:cNvSpPr txBox="1"/>
          <p:nvPr/>
        </p:nvSpPr>
        <p:spPr>
          <a:xfrm>
            <a:off x="3840480" y="3355848"/>
            <a:ext cx="4754880" cy="320040"/>
          </a:xfrm>
          <a:prstGeom prst="rect">
            <a:avLst/>
          </a:prstGeom>
          <a:noFill/>
          <a:ln/>
        </p:spPr>
        <p:txBody>
          <a:bodyPr wrap="square" lIns="0" tIns="0" rIns="0" bIns="0" rtlCol="0" anchor="ctr"/>
          <a:lstStyle/>
          <a:p>
            <a:pPr indent="0" marL="0">
              <a:buNone/>
            </a:pPr>
            <a:r>
              <a:rPr lang="en-US" sz="1400" dirty="0">
                <a:solidFill>
                  <a:schemeClr val="bg1"/>
                </a:solidFill>
              </a:rPr>
              <a:t>Conceived, staged, and choreographed A Chorus Line</a:t>
            </a:r>
            <a:endParaRPr lang="en-US" sz="1400" dirty="0"/>
          </a:p>
        </p:txBody>
      </p:sp>
      <p:sp>
        <p:nvSpPr>
          <p:cNvPr id="15" name="Text 140"/>
          <p:cNvSpPr txBox="1"/>
          <p:nvPr/>
        </p:nvSpPr>
        <p:spPr>
          <a:xfrm>
            <a:off x="3840480" y="3785616"/>
            <a:ext cx="4754880" cy="320040"/>
          </a:xfrm>
          <a:prstGeom prst="rect">
            <a:avLst/>
          </a:prstGeom>
          <a:noFill/>
          <a:ln/>
        </p:spPr>
        <p:txBody>
          <a:bodyPr wrap="square" lIns="0" tIns="0" rIns="0" bIns="0" rtlCol="0" anchor="ctr"/>
          <a:lstStyle/>
          <a:p>
            <a:pPr indent="0" marL="0">
              <a:buNone/>
            </a:pPr>
            <a:r>
              <a:rPr lang="en-US" sz="1700" b="1" dirty="0">
                <a:solidFill>
                  <a:schemeClr val="accent1"/>
                </a:solidFill>
                <a:latin typeface="+mj-lt" pitchFamily="34" charset="0"/>
                <a:ea typeface="+mj-lt" pitchFamily="34" charset="-122"/>
                <a:cs typeface="+mj-lt" pitchFamily="34" charset="-120"/>
              </a:rPr>
              <a:t>Susan Stroman</a:t>
            </a:r>
            <a:endParaRPr lang="en-US" sz="1700" dirty="0"/>
          </a:p>
        </p:txBody>
      </p:sp>
      <p:sp>
        <p:nvSpPr>
          <p:cNvPr id="16" name="Text 141"/>
          <p:cNvSpPr txBox="1"/>
          <p:nvPr/>
        </p:nvSpPr>
        <p:spPr>
          <a:xfrm>
            <a:off x="3840480" y="4114800"/>
            <a:ext cx="4754880" cy="320040"/>
          </a:xfrm>
          <a:prstGeom prst="rect">
            <a:avLst/>
          </a:prstGeom>
          <a:noFill/>
          <a:ln/>
        </p:spPr>
        <p:txBody>
          <a:bodyPr wrap="square" lIns="0" tIns="0" rIns="0" bIns="0" rtlCol="0" anchor="ctr"/>
          <a:lstStyle/>
          <a:p>
            <a:pPr indent="0" marL="0">
              <a:buNone/>
            </a:pPr>
            <a:r>
              <a:rPr lang="en-US" sz="1400" dirty="0">
                <a:solidFill>
                  <a:schemeClr val="bg1"/>
                </a:solidFill>
              </a:rPr>
              <a:t>The Producers, a record-shattering 12 Tony Awards</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lstStyle/>
          <a:p>
            <a:pPr indent="0" marL="0">
              <a:buNone/>
            </a:pPr>
            <a:r>
              <a:rPr lang="en-US" sz="1200" b="1" spc="400" kern="0" dirty="0">
                <a:solidFill>
                  <a:schemeClr val="accent1"/>
                </a:solidFill>
              </a:rPr>
              <a:t>THE GENRE'S GREATEST INFLUENCE</a:t>
            </a:r>
            <a:endParaRPr lang="en-US" sz="1200" dirty="0"/>
          </a:p>
        </p:txBody>
      </p:sp>
      <p:sp>
        <p:nvSpPr>
          <p:cNvPr id="3" name="Text 0"/>
          <p:cNvSpPr/>
          <p:nvPr>
            <p:ph idx="101" type="title" hasCustomPrompt="1"/>
          </p:nvPr>
        </p:nvSpPr>
        <p:spPr>
          <a:xfrm>
            <a:off x="548640" y="621792"/>
            <a:ext cx="8046720" cy="640080"/>
          </a:xfrm>
          <a:prstGeom prst="rect">
            <a:avLst/>
          </a:prstGeom>
          <a:noFill/>
          <a:ln/>
        </p:spPr>
        <p:txBody>
          <a:bodyPr wrap="square" lIns="0" tIns="0" rIns="0" bIns="0" rtlCol="0" anchor="ctr"/>
          <a:lstStyle/>
          <a:p>
            <a:pPr indent="0" marL="0">
              <a:buNone/>
            </a:pPr>
            <a:r>
              <a:rPr lang="en-US" sz="3600" b="1" dirty="0">
                <a:solidFill>
                  <a:schemeClr val="bg1"/>
                </a:solidFill>
              </a:rPr>
              <a:t>Sondheim Rewrites the Rules</a:t>
            </a:r>
            <a:endParaRPr lang="en-US" sz="3600" dirty="0"/>
          </a:p>
        </p:txBody>
      </p:sp>
      <p:sp>
        <p:nvSpPr>
          <p:cNvPr id="4" name="Text 142"/>
          <p:cNvSpPr txBox="1"/>
          <p:nvPr/>
        </p:nvSpPr>
        <p:spPr>
          <a:xfrm>
            <a:off x="548640" y="1508760"/>
            <a:ext cx="3657600" cy="914400"/>
          </a:xfrm>
          <a:prstGeom prst="rect">
            <a:avLst/>
          </a:prstGeom>
          <a:noFill/>
          <a:ln/>
        </p:spPr>
        <p:txBody>
          <a:bodyPr wrap="square" lIns="0" tIns="0" rIns="0" bIns="0" rtlCol="0" anchor="t"/>
          <a:lstStyle/>
          <a:p>
            <a:pPr indent="0" marL="0">
              <a:buNone/>
            </a:pPr>
            <a:r>
              <a:rPr lang="en-US" sz="1600" dirty="0">
                <a:solidFill>
                  <a:schemeClr val="bg1"/>
                </a:solidFill>
              </a:rPr>
              <a:t>He began as the lyricist for West Side Story (1957). From 1970 on, he invented a new kind of musical:</a:t>
            </a:r>
            <a:endParaRPr lang="en-US" sz="1600" dirty="0"/>
          </a:p>
        </p:txBody>
      </p:sp>
      <p:sp>
        <p:nvSpPr>
          <p:cNvPr id="5" name="Text 143"/>
          <p:cNvSpPr txBox="1"/>
          <p:nvPr/>
        </p:nvSpPr>
        <p:spPr>
          <a:xfrm>
            <a:off x="548640" y="2560320"/>
            <a:ext cx="365760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accent3"/>
                </a:solidFill>
              </a:rPr>
              <a:t>Disturbing plots and an ironic tone</a:t>
            </a:r>
            <a:endParaRPr lang="en-US" sz="1500" dirty="0"/>
          </a:p>
          <a:p>
            <a:pPr marL="342900" indent="-342900">
              <a:spcAft>
                <a:spcPts val="800"/>
              </a:spcAft>
              <a:buSzPct val="100000"/>
              <a:buChar char="•"/>
            </a:pPr>
            <a:r>
              <a:rPr lang="en-US" sz="1500" dirty="0">
                <a:solidFill>
                  <a:schemeClr val="accent3"/>
                </a:solidFill>
              </a:rPr>
              <a:t>Adult, fiendishly clever rhymes</a:t>
            </a:r>
            <a:endParaRPr lang="en-US" sz="1500" dirty="0"/>
          </a:p>
          <a:p>
            <a:pPr marL="342900" indent="-342900">
              <a:spcAft>
                <a:spcPts val="800"/>
              </a:spcAft>
              <a:buSzPct val="100000"/>
              <a:buChar char="•"/>
            </a:pPr>
            <a:r>
              <a:rPr lang="en-US" sz="1500" dirty="0">
                <a:solidFill>
                  <a:schemeClr val="accent3"/>
                </a:solidFill>
              </a:rPr>
              <a:t>Surprising new rhythms for popular music</a:t>
            </a:r>
            <a:endParaRPr lang="en-US" sz="1500" dirty="0"/>
          </a:p>
        </p:txBody>
      </p:sp>
      <p:sp>
        <p:nvSpPr>
          <p:cNvPr id="6" name="Card 144"/>
          <p:cNvSpPr/>
          <p:nvPr/>
        </p:nvSpPr>
        <p:spPr>
          <a:xfrm>
            <a:off x="4572000" y="1463040"/>
            <a:ext cx="4023360" cy="658368"/>
          </a:xfrm>
          <a:prstGeom prst="roundRect">
            <a:avLst>
              <a:gd name="adj" fmla="val 11111"/>
            </a:avLst>
          </a:prstGeom>
          <a:solidFill>
            <a:schemeClr val="tx2"/>
          </a:solidFill>
          <a:ln/>
        </p:spPr>
      </p:sp>
      <p:sp>
        <p:nvSpPr>
          <p:cNvPr id="7" name="Text 145"/>
          <p:cNvSpPr txBox="1"/>
          <p:nvPr/>
        </p:nvSpPr>
        <p:spPr>
          <a:xfrm>
            <a:off x="4709160" y="1463040"/>
            <a:ext cx="73152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1970</a:t>
            </a:r>
            <a:endParaRPr lang="en-US" sz="1600" dirty="0"/>
          </a:p>
        </p:txBody>
      </p:sp>
      <p:sp>
        <p:nvSpPr>
          <p:cNvPr id="8" name="Text 146"/>
          <p:cNvSpPr txBox="1"/>
          <p:nvPr/>
        </p:nvSpPr>
        <p:spPr>
          <a:xfrm>
            <a:off x="5486400" y="1536192"/>
            <a:ext cx="3017520" cy="274320"/>
          </a:xfrm>
          <a:prstGeom prst="rect">
            <a:avLst/>
          </a:prstGeom>
          <a:noFill/>
          <a:ln/>
        </p:spPr>
        <p:txBody>
          <a:bodyPr wrap="square" lIns="0" tIns="0" rIns="0" bIns="0" rtlCol="0" anchor="ctr"/>
          <a:lstStyle/>
          <a:p>
            <a:pPr indent="0" marL="0">
              <a:buNone/>
            </a:pPr>
            <a:r>
              <a:rPr lang="en-US" sz="1400" b="1" dirty="0">
                <a:solidFill>
                  <a:schemeClr val="bg1"/>
                </a:solidFill>
              </a:rPr>
              <a:t>Company</a:t>
            </a:r>
            <a:endParaRPr lang="en-US" sz="1400" dirty="0"/>
          </a:p>
        </p:txBody>
      </p:sp>
      <p:sp>
        <p:nvSpPr>
          <p:cNvPr id="9" name="Text 147"/>
          <p:cNvSpPr txBox="1"/>
          <p:nvPr/>
        </p:nvSpPr>
        <p:spPr>
          <a:xfrm>
            <a:off x="5486400" y="1810512"/>
            <a:ext cx="3017520" cy="256032"/>
          </a:xfrm>
          <a:prstGeom prst="rect">
            <a:avLst/>
          </a:prstGeom>
          <a:noFill/>
          <a:ln/>
        </p:spPr>
        <p:txBody>
          <a:bodyPr wrap="square" lIns="0" tIns="0" rIns="0" bIns="0" rtlCol="0" anchor="ctr"/>
          <a:lstStyle/>
          <a:p>
            <a:pPr indent="0" marL="0">
              <a:buNone/>
            </a:pPr>
            <a:r>
              <a:rPr lang="en-US" sz="1200" dirty="0">
                <a:solidFill>
                  <a:schemeClr val="accent6"/>
                </a:solidFill>
              </a:rPr>
              <a:t>Love and marriage in Manhattan</a:t>
            </a:r>
            <a:endParaRPr lang="en-US" sz="1200" dirty="0"/>
          </a:p>
        </p:txBody>
      </p:sp>
      <p:sp>
        <p:nvSpPr>
          <p:cNvPr id="10" name="Card 148"/>
          <p:cNvSpPr/>
          <p:nvPr/>
        </p:nvSpPr>
        <p:spPr>
          <a:xfrm>
            <a:off x="4572000" y="2240280"/>
            <a:ext cx="4023360" cy="658368"/>
          </a:xfrm>
          <a:prstGeom prst="roundRect">
            <a:avLst>
              <a:gd name="adj" fmla="val 11111"/>
            </a:avLst>
          </a:prstGeom>
          <a:solidFill>
            <a:schemeClr val="tx2"/>
          </a:solidFill>
          <a:ln/>
        </p:spPr>
      </p:sp>
      <p:sp>
        <p:nvSpPr>
          <p:cNvPr id="11" name="Text 149"/>
          <p:cNvSpPr txBox="1"/>
          <p:nvPr/>
        </p:nvSpPr>
        <p:spPr>
          <a:xfrm>
            <a:off x="4709160" y="2240280"/>
            <a:ext cx="73152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1979</a:t>
            </a:r>
            <a:endParaRPr lang="en-US" sz="1600" dirty="0"/>
          </a:p>
        </p:txBody>
      </p:sp>
      <p:sp>
        <p:nvSpPr>
          <p:cNvPr id="12" name="Text 150"/>
          <p:cNvSpPr txBox="1"/>
          <p:nvPr/>
        </p:nvSpPr>
        <p:spPr>
          <a:xfrm>
            <a:off x="5486400" y="2313432"/>
            <a:ext cx="3017520" cy="274320"/>
          </a:xfrm>
          <a:prstGeom prst="rect">
            <a:avLst/>
          </a:prstGeom>
          <a:noFill/>
          <a:ln/>
        </p:spPr>
        <p:txBody>
          <a:bodyPr wrap="square" lIns="0" tIns="0" rIns="0" bIns="0" rtlCol="0" anchor="ctr"/>
          <a:lstStyle/>
          <a:p>
            <a:pPr indent="0" marL="0">
              <a:buNone/>
            </a:pPr>
            <a:r>
              <a:rPr lang="en-US" sz="1400" b="1" dirty="0">
                <a:solidFill>
                  <a:schemeClr val="bg1"/>
                </a:solidFill>
              </a:rPr>
              <a:t>Sweeney Todd</a:t>
            </a:r>
            <a:endParaRPr lang="en-US" sz="1400" dirty="0"/>
          </a:p>
        </p:txBody>
      </p:sp>
      <p:sp>
        <p:nvSpPr>
          <p:cNvPr id="13" name="Text 151"/>
          <p:cNvSpPr txBox="1"/>
          <p:nvPr/>
        </p:nvSpPr>
        <p:spPr>
          <a:xfrm>
            <a:off x="5486400" y="2587752"/>
            <a:ext cx="3017520" cy="256032"/>
          </a:xfrm>
          <a:prstGeom prst="rect">
            <a:avLst/>
          </a:prstGeom>
          <a:noFill/>
          <a:ln/>
        </p:spPr>
        <p:txBody>
          <a:bodyPr wrap="square" lIns="0" tIns="0" rIns="0" bIns="0" rtlCol="0" anchor="ctr"/>
          <a:lstStyle/>
          <a:p>
            <a:pPr indent="0" marL="0">
              <a:buNone/>
            </a:pPr>
            <a:r>
              <a:rPr lang="en-US" sz="1200" dirty="0">
                <a:solidFill>
                  <a:schemeClr val="accent6"/>
                </a:solidFill>
              </a:rPr>
              <a:t>A barber's revenge, now staged by opera houses</a:t>
            </a:r>
            <a:endParaRPr lang="en-US" sz="1200" dirty="0"/>
          </a:p>
        </p:txBody>
      </p:sp>
      <p:sp>
        <p:nvSpPr>
          <p:cNvPr id="14" name="Card 152"/>
          <p:cNvSpPr/>
          <p:nvPr/>
        </p:nvSpPr>
        <p:spPr>
          <a:xfrm>
            <a:off x="4572000" y="3017520"/>
            <a:ext cx="4023360" cy="658368"/>
          </a:xfrm>
          <a:prstGeom prst="roundRect">
            <a:avLst>
              <a:gd name="adj" fmla="val 11111"/>
            </a:avLst>
          </a:prstGeom>
          <a:solidFill>
            <a:schemeClr val="tx2"/>
          </a:solidFill>
          <a:ln/>
        </p:spPr>
      </p:sp>
      <p:sp>
        <p:nvSpPr>
          <p:cNvPr id="15" name="Text 153"/>
          <p:cNvSpPr txBox="1"/>
          <p:nvPr/>
        </p:nvSpPr>
        <p:spPr>
          <a:xfrm>
            <a:off x="4709160" y="3017520"/>
            <a:ext cx="73152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1984</a:t>
            </a:r>
            <a:endParaRPr lang="en-US" sz="1600" dirty="0"/>
          </a:p>
        </p:txBody>
      </p:sp>
      <p:sp>
        <p:nvSpPr>
          <p:cNvPr id="16" name="Text 154"/>
          <p:cNvSpPr txBox="1"/>
          <p:nvPr/>
        </p:nvSpPr>
        <p:spPr>
          <a:xfrm>
            <a:off x="5486400" y="3090672"/>
            <a:ext cx="3017520" cy="274320"/>
          </a:xfrm>
          <a:prstGeom prst="rect">
            <a:avLst/>
          </a:prstGeom>
          <a:noFill/>
          <a:ln/>
        </p:spPr>
        <p:txBody>
          <a:bodyPr wrap="square" lIns="0" tIns="0" rIns="0" bIns="0" rtlCol="0" anchor="ctr"/>
          <a:lstStyle/>
          <a:p>
            <a:pPr indent="0" marL="0">
              <a:buNone/>
            </a:pPr>
            <a:r>
              <a:rPr lang="en-US" sz="1400" b="1" dirty="0">
                <a:solidFill>
                  <a:schemeClr val="bg1"/>
                </a:solidFill>
              </a:rPr>
              <a:t>Sunday in the Park with George</a:t>
            </a:r>
            <a:endParaRPr lang="en-US" sz="1400" dirty="0"/>
          </a:p>
        </p:txBody>
      </p:sp>
      <p:sp>
        <p:nvSpPr>
          <p:cNvPr id="17" name="Text 155"/>
          <p:cNvSpPr txBox="1"/>
          <p:nvPr/>
        </p:nvSpPr>
        <p:spPr>
          <a:xfrm>
            <a:off x="5486400" y="3364992"/>
            <a:ext cx="3017520" cy="256032"/>
          </a:xfrm>
          <a:prstGeom prst="rect">
            <a:avLst/>
          </a:prstGeom>
          <a:noFill/>
          <a:ln/>
        </p:spPr>
        <p:txBody>
          <a:bodyPr wrap="square" lIns="0" tIns="0" rIns="0" bIns="0" rtlCol="0" anchor="ctr"/>
          <a:lstStyle/>
          <a:p>
            <a:pPr indent="0" marL="0">
              <a:buNone/>
            </a:pPr>
            <a:r>
              <a:rPr lang="en-US" sz="1200" dirty="0">
                <a:solidFill>
                  <a:schemeClr val="accent6"/>
                </a:solidFill>
              </a:rPr>
              <a:t>Music that mimics Seurat's painted dots</a:t>
            </a:r>
            <a:endParaRPr lang="en-US" sz="1200" dirty="0"/>
          </a:p>
        </p:txBody>
      </p:sp>
      <p:sp>
        <p:nvSpPr>
          <p:cNvPr id="18" name="Card 156"/>
          <p:cNvSpPr/>
          <p:nvPr/>
        </p:nvSpPr>
        <p:spPr>
          <a:xfrm>
            <a:off x="4572000" y="3794760"/>
            <a:ext cx="4023360" cy="658368"/>
          </a:xfrm>
          <a:prstGeom prst="roundRect">
            <a:avLst>
              <a:gd name="adj" fmla="val 11111"/>
            </a:avLst>
          </a:prstGeom>
          <a:solidFill>
            <a:schemeClr val="tx2"/>
          </a:solidFill>
          <a:ln/>
        </p:spPr>
      </p:sp>
      <p:sp>
        <p:nvSpPr>
          <p:cNvPr id="19" name="Text 157"/>
          <p:cNvSpPr txBox="1"/>
          <p:nvPr/>
        </p:nvSpPr>
        <p:spPr>
          <a:xfrm>
            <a:off x="4709160" y="3794760"/>
            <a:ext cx="73152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1986</a:t>
            </a:r>
            <a:endParaRPr lang="en-US" sz="1600" dirty="0"/>
          </a:p>
        </p:txBody>
      </p:sp>
      <p:sp>
        <p:nvSpPr>
          <p:cNvPr id="20" name="Text 158"/>
          <p:cNvSpPr txBox="1"/>
          <p:nvPr/>
        </p:nvSpPr>
        <p:spPr>
          <a:xfrm>
            <a:off x="5486400" y="3867912"/>
            <a:ext cx="3017520" cy="274320"/>
          </a:xfrm>
          <a:prstGeom prst="rect">
            <a:avLst/>
          </a:prstGeom>
          <a:noFill/>
          <a:ln/>
        </p:spPr>
        <p:txBody>
          <a:bodyPr wrap="square" lIns="0" tIns="0" rIns="0" bIns="0" rtlCol="0" anchor="ctr"/>
          <a:lstStyle/>
          <a:p>
            <a:pPr indent="0" marL="0">
              <a:buNone/>
            </a:pPr>
            <a:r>
              <a:rPr lang="en-US" sz="1400" b="1" dirty="0">
                <a:solidFill>
                  <a:schemeClr val="bg1"/>
                </a:solidFill>
              </a:rPr>
              <a:t>Into the Woods</a:t>
            </a:r>
            <a:endParaRPr lang="en-US" sz="1400" dirty="0"/>
          </a:p>
        </p:txBody>
      </p:sp>
      <p:sp>
        <p:nvSpPr>
          <p:cNvPr id="21" name="Text 159"/>
          <p:cNvSpPr txBox="1"/>
          <p:nvPr/>
        </p:nvSpPr>
        <p:spPr>
          <a:xfrm>
            <a:off x="5486400" y="4142232"/>
            <a:ext cx="3017520" cy="256032"/>
          </a:xfrm>
          <a:prstGeom prst="rect">
            <a:avLst/>
          </a:prstGeom>
          <a:noFill/>
          <a:ln/>
        </p:spPr>
        <p:txBody>
          <a:bodyPr wrap="square" lIns="0" tIns="0" rIns="0" bIns="0" rtlCol="0" anchor="ctr"/>
          <a:lstStyle/>
          <a:p>
            <a:pPr indent="0" marL="0">
              <a:buNone/>
            </a:pPr>
            <a:r>
              <a:rPr lang="en-US" sz="1200" dirty="0">
                <a:solidFill>
                  <a:schemeClr val="accent6"/>
                </a:solidFill>
              </a:rPr>
              <a:t>Fairy tales after "happily ever after"</a:t>
            </a:r>
            <a:endParaRPr lang="en-US" sz="12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lstStyle/>
          <a:p>
            <a:pPr indent="0" marL="0">
              <a:buNone/>
            </a:pPr>
            <a:r>
              <a:rPr lang="en-US" sz="1200" b="1" spc="400" kern="0" dirty="0">
                <a:solidFill>
                  <a:schemeClr val="accent1"/>
                </a:solidFill>
              </a:rPr>
              <a:t>THE MEGAMUSICAL</a:t>
            </a:r>
            <a:endParaRPr lang="en-US" sz="1200" dirty="0"/>
          </a:p>
        </p:txBody>
      </p:sp>
      <p:sp>
        <p:nvSpPr>
          <p:cNvPr id="3" name="Text 0"/>
          <p:cNvSpPr/>
          <p:nvPr>
            <p:ph idx="101" type="title" hasCustomPrompt="1"/>
          </p:nvPr>
        </p:nvSpPr>
        <p:spPr>
          <a:xfrm>
            <a:off x="548640" y="621792"/>
            <a:ext cx="8046720" cy="640080"/>
          </a:xfrm>
          <a:prstGeom prst="rect">
            <a:avLst/>
          </a:prstGeom>
          <a:noFill/>
          <a:ln/>
        </p:spPr>
        <p:txBody>
          <a:bodyPr wrap="square" lIns="0" tIns="0" rIns="0" bIns="0" rtlCol="0" anchor="ctr"/>
          <a:lstStyle/>
          <a:p>
            <a:pPr indent="0" marL="0">
              <a:buNone/>
            </a:pPr>
            <a:r>
              <a:rPr lang="en-US" sz="3600" b="1" dirty="0">
                <a:solidFill>
                  <a:schemeClr val="bg1"/>
                </a:solidFill>
              </a:rPr>
              <a:t>Spectacle Goes Global</a:t>
            </a:r>
            <a:endParaRPr lang="en-US" sz="3600" dirty="0"/>
          </a:p>
        </p:txBody>
      </p:sp>
      <p:sp>
        <p:nvSpPr>
          <p:cNvPr id="4" name="Card 160"/>
          <p:cNvSpPr/>
          <p:nvPr/>
        </p:nvSpPr>
        <p:spPr>
          <a:xfrm>
            <a:off x="548640" y="1463040"/>
            <a:ext cx="2499055" cy="2514600"/>
          </a:xfrm>
          <a:prstGeom prst="roundRect">
            <a:avLst>
              <a:gd name="adj" fmla="val 2927"/>
            </a:avLst>
          </a:prstGeom>
          <a:solidFill>
            <a:schemeClr val="tx2"/>
          </a:solidFill>
          <a:ln/>
        </p:spPr>
      </p:sp>
      <p:sp>
        <p:nvSpPr>
          <p:cNvPr id="5" name="Dot 161"/>
          <p:cNvSpPr/>
          <p:nvPr/>
        </p:nvSpPr>
        <p:spPr>
          <a:xfrm>
            <a:off x="749808" y="1645920"/>
            <a:ext cx="502920" cy="502920"/>
          </a:xfrm>
          <a:prstGeom prst="ellipse">
            <a:avLst/>
          </a:prstGeom>
          <a:solidFill>
            <a:schemeClr val="accent1"/>
          </a:solidFill>
          <a:ln/>
        </p:spPr>
      </p:sp>
      <p:pic>
        <p:nvPicPr>
          <p:cNvPr id="6" name="Icon 162" descr="preencoded.png">    </p:cNvPr>
          <p:cNvPicPr>
            <a:picLocks noChangeAspect="1"/>
          </p:cNvPicPr>
          <p:nvPr/>
        </p:nvPicPr>
        <p:blipFill>
          <a:blip r:embed="rId1"/>
          <a:stretch>
            <a:fillRect/>
          </a:stretch>
        </p:blipFill>
        <p:spPr>
          <a:xfrm>
            <a:off x="875538" y="1771650"/>
            <a:ext cx="251460" cy="251460"/>
          </a:xfrm>
          <a:prstGeom prst="rect">
            <a:avLst/>
          </a:prstGeom>
        </p:spPr>
      </p:pic>
      <p:sp>
        <p:nvSpPr>
          <p:cNvPr id="7" name="Text 163"/>
          <p:cNvSpPr txBox="1"/>
          <p:nvPr/>
        </p:nvSpPr>
        <p:spPr>
          <a:xfrm>
            <a:off x="749808" y="2240280"/>
            <a:ext cx="2103120" cy="5486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#1</a:t>
            </a:r>
            <a:endParaRPr lang="en-US" sz="3200" dirty="0"/>
          </a:p>
        </p:txBody>
      </p:sp>
      <p:sp>
        <p:nvSpPr>
          <p:cNvPr id="8" name="Text 164"/>
          <p:cNvSpPr txBox="1"/>
          <p:nvPr/>
        </p:nvSpPr>
        <p:spPr>
          <a:xfrm>
            <a:off x="749808" y="2834640"/>
            <a:ext cx="2103120" cy="320040"/>
          </a:xfrm>
          <a:prstGeom prst="rect">
            <a:avLst/>
          </a:prstGeom>
          <a:noFill/>
          <a:ln/>
        </p:spPr>
        <p:txBody>
          <a:bodyPr wrap="square" lIns="0" tIns="0" rIns="0" bIns="0" rtlCol="0" anchor="ctr"/>
          <a:lstStyle/>
          <a:p>
            <a:pPr indent="0" marL="0">
              <a:buNone/>
            </a:pPr>
            <a:r>
              <a:rPr lang="en-US" sz="1500" b="1" dirty="0">
                <a:solidFill>
                  <a:schemeClr val="bg1"/>
                </a:solidFill>
              </a:rPr>
              <a:t>The Phantom of the Opera</a:t>
            </a:r>
            <a:endParaRPr lang="en-US" sz="1500" dirty="0"/>
          </a:p>
        </p:txBody>
      </p:sp>
      <p:sp>
        <p:nvSpPr>
          <p:cNvPr id="9" name="Text 165"/>
          <p:cNvSpPr txBox="1"/>
          <p:nvPr/>
        </p:nvSpPr>
        <p:spPr>
          <a:xfrm>
            <a:off x="749808" y="3154680"/>
            <a:ext cx="2103120" cy="731520"/>
          </a:xfrm>
          <a:prstGeom prst="rect">
            <a:avLst/>
          </a:prstGeom>
          <a:noFill/>
          <a:ln/>
        </p:spPr>
        <p:txBody>
          <a:bodyPr wrap="square" lIns="0" tIns="0" rIns="0" bIns="0" rtlCol="0" anchor="t"/>
          <a:lstStyle/>
          <a:p>
            <a:pPr indent="0" marL="0">
              <a:buNone/>
            </a:pPr>
            <a:r>
              <a:rPr lang="en-US" sz="1300" dirty="0">
                <a:solidFill>
                  <a:schemeClr val="accent6"/>
                </a:solidFill>
              </a:rPr>
              <a:t>Lloyd Webber's longest-running musical in Broadway history</a:t>
            </a:r>
            <a:endParaRPr lang="en-US" sz="1300" dirty="0"/>
          </a:p>
        </p:txBody>
      </p:sp>
      <p:sp>
        <p:nvSpPr>
          <p:cNvPr id="10" name="Card 166"/>
          <p:cNvSpPr/>
          <p:nvPr/>
        </p:nvSpPr>
        <p:spPr>
          <a:xfrm>
            <a:off x="3322015" y="1463040"/>
            <a:ext cx="2499055" cy="2514600"/>
          </a:xfrm>
          <a:prstGeom prst="roundRect">
            <a:avLst>
              <a:gd name="adj" fmla="val 2927"/>
            </a:avLst>
          </a:prstGeom>
          <a:solidFill>
            <a:schemeClr val="tx2"/>
          </a:solidFill>
          <a:ln/>
        </p:spPr>
      </p:sp>
      <p:sp>
        <p:nvSpPr>
          <p:cNvPr id="11" name="Dot 167"/>
          <p:cNvSpPr/>
          <p:nvPr/>
        </p:nvSpPr>
        <p:spPr>
          <a:xfrm>
            <a:off x="3523183" y="1645920"/>
            <a:ext cx="502920" cy="502920"/>
          </a:xfrm>
          <a:prstGeom prst="ellipse">
            <a:avLst/>
          </a:prstGeom>
          <a:solidFill>
            <a:schemeClr val="accent1"/>
          </a:solidFill>
          <a:ln/>
        </p:spPr>
      </p:sp>
      <p:pic>
        <p:nvPicPr>
          <p:cNvPr id="12" name="Icon 168" descr="preencoded.png">    </p:cNvPr>
          <p:cNvPicPr>
            <a:picLocks noChangeAspect="1"/>
          </p:cNvPicPr>
          <p:nvPr/>
        </p:nvPicPr>
        <p:blipFill>
          <a:blip r:embed="rId2"/>
          <a:stretch>
            <a:fillRect/>
          </a:stretch>
        </p:blipFill>
        <p:spPr>
          <a:xfrm>
            <a:off x="3648913" y="1771650"/>
            <a:ext cx="251460" cy="251460"/>
          </a:xfrm>
          <a:prstGeom prst="rect">
            <a:avLst/>
          </a:prstGeom>
        </p:spPr>
      </p:pic>
      <p:sp>
        <p:nvSpPr>
          <p:cNvPr id="13" name="Text 169"/>
          <p:cNvSpPr txBox="1"/>
          <p:nvPr/>
        </p:nvSpPr>
        <p:spPr>
          <a:xfrm>
            <a:off x="3523183" y="2240280"/>
            <a:ext cx="2103120" cy="5486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Liftoff</a:t>
            </a:r>
            <a:endParaRPr lang="en-US" sz="3200" dirty="0"/>
          </a:p>
        </p:txBody>
      </p:sp>
      <p:sp>
        <p:nvSpPr>
          <p:cNvPr id="14" name="Text 170"/>
          <p:cNvSpPr txBox="1"/>
          <p:nvPr/>
        </p:nvSpPr>
        <p:spPr>
          <a:xfrm>
            <a:off x="3523183" y="2834640"/>
            <a:ext cx="2103120" cy="320040"/>
          </a:xfrm>
          <a:prstGeom prst="rect">
            <a:avLst/>
          </a:prstGeom>
          <a:noFill/>
          <a:ln/>
        </p:spPr>
        <p:txBody>
          <a:bodyPr wrap="square" lIns="0" tIns="0" rIns="0" bIns="0" rtlCol="0" anchor="ctr"/>
          <a:lstStyle/>
          <a:p>
            <a:pPr indent="0" marL="0">
              <a:buNone/>
            </a:pPr>
            <a:r>
              <a:rPr lang="en-US" sz="1500" b="1" dirty="0">
                <a:solidFill>
                  <a:schemeClr val="bg1"/>
                </a:solidFill>
              </a:rPr>
              <a:t>Miss Saigon</a:t>
            </a:r>
            <a:endParaRPr lang="en-US" sz="1500" dirty="0"/>
          </a:p>
        </p:txBody>
      </p:sp>
      <p:sp>
        <p:nvSpPr>
          <p:cNvPr id="15" name="Text 171"/>
          <p:cNvSpPr txBox="1"/>
          <p:nvPr/>
        </p:nvSpPr>
        <p:spPr>
          <a:xfrm>
            <a:off x="3523183" y="3154680"/>
            <a:ext cx="2103120" cy="731520"/>
          </a:xfrm>
          <a:prstGeom prst="rect">
            <a:avLst/>
          </a:prstGeom>
          <a:noFill/>
          <a:ln/>
        </p:spPr>
        <p:txBody>
          <a:bodyPr wrap="square" lIns="0" tIns="0" rIns="0" bIns="0" rtlCol="0" anchor="t"/>
          <a:lstStyle/>
          <a:p>
            <a:pPr indent="0" marL="0">
              <a:buNone/>
            </a:pPr>
            <a:r>
              <a:rPr lang="en-US" sz="1300" dirty="0">
                <a:solidFill>
                  <a:schemeClr val="accent6"/>
                </a:solidFill>
              </a:rPr>
              <a:t>A helicopter lands onstage to rescue fleeing diplomats</a:t>
            </a:r>
            <a:endParaRPr lang="en-US" sz="1300" dirty="0"/>
          </a:p>
        </p:txBody>
      </p:sp>
      <p:sp>
        <p:nvSpPr>
          <p:cNvPr id="16" name="Card 172"/>
          <p:cNvSpPr/>
          <p:nvPr/>
        </p:nvSpPr>
        <p:spPr>
          <a:xfrm>
            <a:off x="6095390" y="1463040"/>
            <a:ext cx="2499055" cy="2514600"/>
          </a:xfrm>
          <a:prstGeom prst="roundRect">
            <a:avLst>
              <a:gd name="adj" fmla="val 2927"/>
            </a:avLst>
          </a:prstGeom>
          <a:solidFill>
            <a:schemeClr val="tx2"/>
          </a:solidFill>
          <a:ln/>
        </p:spPr>
      </p:sp>
      <p:sp>
        <p:nvSpPr>
          <p:cNvPr id="17" name="Dot 173"/>
          <p:cNvSpPr/>
          <p:nvPr/>
        </p:nvSpPr>
        <p:spPr>
          <a:xfrm>
            <a:off x="6296558" y="1645920"/>
            <a:ext cx="502920" cy="502920"/>
          </a:xfrm>
          <a:prstGeom prst="ellipse">
            <a:avLst/>
          </a:prstGeom>
          <a:solidFill>
            <a:schemeClr val="accent1"/>
          </a:solidFill>
          <a:ln/>
        </p:spPr>
      </p:sp>
      <p:pic>
        <p:nvPicPr>
          <p:cNvPr id="18" name="Icon 174" descr="preencoded.png">    </p:cNvPr>
          <p:cNvPicPr>
            <a:picLocks noChangeAspect="1"/>
          </p:cNvPicPr>
          <p:nvPr/>
        </p:nvPicPr>
        <p:blipFill>
          <a:blip r:embed="rId3"/>
          <a:stretch>
            <a:fillRect/>
          </a:stretch>
        </p:blipFill>
        <p:spPr>
          <a:xfrm>
            <a:off x="6422288" y="1771650"/>
            <a:ext cx="251460" cy="251460"/>
          </a:xfrm>
          <a:prstGeom prst="rect">
            <a:avLst/>
          </a:prstGeom>
        </p:spPr>
      </p:pic>
      <p:sp>
        <p:nvSpPr>
          <p:cNvPr id="19" name="Text 175"/>
          <p:cNvSpPr txBox="1"/>
          <p:nvPr/>
        </p:nvSpPr>
        <p:spPr>
          <a:xfrm>
            <a:off x="6296558" y="2240280"/>
            <a:ext cx="2103120" cy="5486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$6.2B</a:t>
            </a:r>
            <a:endParaRPr lang="en-US" sz="3200" dirty="0"/>
          </a:p>
        </p:txBody>
      </p:sp>
      <p:sp>
        <p:nvSpPr>
          <p:cNvPr id="20" name="Text 176"/>
          <p:cNvSpPr txBox="1"/>
          <p:nvPr/>
        </p:nvSpPr>
        <p:spPr>
          <a:xfrm>
            <a:off x="6296558" y="2834640"/>
            <a:ext cx="2103120" cy="320040"/>
          </a:xfrm>
          <a:prstGeom prst="rect">
            <a:avLst/>
          </a:prstGeom>
          <a:noFill/>
          <a:ln/>
        </p:spPr>
        <p:txBody>
          <a:bodyPr wrap="square" lIns="0" tIns="0" rIns="0" bIns="0" rtlCol="0" anchor="ctr"/>
          <a:lstStyle/>
          <a:p>
            <a:pPr indent="0" marL="0">
              <a:buNone/>
            </a:pPr>
            <a:r>
              <a:rPr lang="en-US" sz="1500" b="1" dirty="0">
                <a:solidFill>
                  <a:schemeClr val="bg1"/>
                </a:solidFill>
              </a:rPr>
              <a:t>The Lion King</a:t>
            </a:r>
            <a:endParaRPr lang="en-US" sz="1500" dirty="0"/>
          </a:p>
        </p:txBody>
      </p:sp>
      <p:sp>
        <p:nvSpPr>
          <p:cNvPr id="21" name="Text 177"/>
          <p:cNvSpPr txBox="1"/>
          <p:nvPr/>
        </p:nvSpPr>
        <p:spPr>
          <a:xfrm>
            <a:off x="6296558" y="3154680"/>
            <a:ext cx="2103120" cy="731520"/>
          </a:xfrm>
          <a:prstGeom prst="rect">
            <a:avLst/>
          </a:prstGeom>
          <a:noFill/>
          <a:ln/>
        </p:spPr>
        <p:txBody>
          <a:bodyPr wrap="square" lIns="0" tIns="0" rIns="0" bIns="0" rtlCol="0" anchor="t"/>
          <a:lstStyle/>
          <a:p>
            <a:pPr indent="0" marL="0">
              <a:buNone/>
            </a:pPr>
            <a:r>
              <a:rPr lang="en-US" sz="1300" dirty="0">
                <a:solidFill>
                  <a:schemeClr val="accent6"/>
                </a:solidFill>
              </a:rPr>
              <a:t>Julie Taymor's staging became Broadway's highest grosser ever</a:t>
            </a:r>
            <a:endParaRPr lang="en-US" sz="1300" dirty="0"/>
          </a:p>
        </p:txBody>
      </p:sp>
      <p:sp>
        <p:nvSpPr>
          <p:cNvPr id="22" name="Text 178"/>
          <p:cNvSpPr txBox="1"/>
          <p:nvPr/>
        </p:nvSpPr>
        <p:spPr>
          <a:xfrm>
            <a:off x="548640" y="4114800"/>
            <a:ext cx="8046720" cy="411480"/>
          </a:xfrm>
          <a:prstGeom prst="rect">
            <a:avLst/>
          </a:prstGeom>
          <a:noFill/>
          <a:ln/>
        </p:spPr>
        <p:txBody>
          <a:bodyPr wrap="square" lIns="0" tIns="0" rIns="0" bIns="0" rtlCol="0" anchor="ctr"/>
          <a:lstStyle/>
          <a:p>
            <a:pPr indent="0" marL="0">
              <a:buNone/>
            </a:pPr>
            <a:r>
              <a:rPr lang="en-US" sz="1500" i="1" dirty="0">
                <a:solidFill>
                  <a:schemeClr val="accent3"/>
                </a:solidFill>
              </a:rPr>
              <a:t>Mostly sung-through with no spoken dialogue, these shows need little translation, so they travel the world.</a:t>
            </a:r>
            <a:endParaRPr lang="en-US" sz="15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lstStyle/>
          <a:p>
            <a:pPr indent="0" marL="0">
              <a:buNone/>
            </a:pPr>
            <a:r>
              <a:rPr lang="en-US" sz="1200" b="1" spc="400" kern="0" dirty="0">
                <a:solidFill>
                  <a:schemeClr val="accent1"/>
                </a:solidFill>
              </a:rPr>
              <a:t>CROSSOVER AUDIENCES</a:t>
            </a:r>
            <a:endParaRPr lang="en-US" sz="1200" dirty="0"/>
          </a:p>
        </p:txBody>
      </p:sp>
      <p:sp>
        <p:nvSpPr>
          <p:cNvPr id="3" name="Text 0"/>
          <p:cNvSpPr/>
          <p:nvPr>
            <p:ph idx="101" type="title" hasCustomPrompt="1"/>
          </p:nvPr>
        </p:nvSpPr>
        <p:spPr>
          <a:xfrm>
            <a:off x="548640" y="621792"/>
            <a:ext cx="8046720" cy="640080"/>
          </a:xfrm>
          <a:prstGeom prst="rect">
            <a:avLst/>
          </a:prstGeom>
          <a:noFill/>
          <a:ln/>
        </p:spPr>
        <p:txBody>
          <a:bodyPr wrap="square" lIns="0" tIns="0" rIns="0" bIns="0" rtlCol="0" anchor="ctr"/>
          <a:lstStyle/>
          <a:p>
            <a:pPr indent="0" marL="0">
              <a:buNone/>
            </a:pPr>
            <a:r>
              <a:rPr lang="en-US" sz="3600" b="1" dirty="0">
                <a:solidFill>
                  <a:schemeClr val="bg1"/>
                </a:solidFill>
              </a:rPr>
              <a:t>Black Musicals Lead the Way</a:t>
            </a:r>
            <a:endParaRPr lang="en-US" sz="3600" dirty="0"/>
          </a:p>
        </p:txBody>
      </p:sp>
      <p:sp>
        <p:nvSpPr>
          <p:cNvPr id="4" name="Dot 179"/>
          <p:cNvSpPr/>
          <p:nvPr/>
        </p:nvSpPr>
        <p:spPr>
          <a:xfrm>
            <a:off x="548640" y="1508760"/>
            <a:ext cx="548640" cy="548640"/>
          </a:xfrm>
          <a:prstGeom prst="ellipse">
            <a:avLst/>
          </a:prstGeom>
          <a:solidFill>
            <a:schemeClr val="accent1"/>
          </a:solidFill>
          <a:ln/>
        </p:spPr>
      </p:sp>
      <p:pic>
        <p:nvPicPr>
          <p:cNvPr id="5" name="Icon 180" descr="preencoded.png">    </p:cNvPr>
          <p:cNvPicPr>
            <a:picLocks noChangeAspect="1"/>
          </p:cNvPicPr>
          <p:nvPr/>
        </p:nvPicPr>
        <p:blipFill>
          <a:blip r:embed="rId1"/>
          <a:stretch>
            <a:fillRect/>
          </a:stretch>
        </p:blipFill>
        <p:spPr>
          <a:xfrm>
            <a:off x="685800" y="1645920"/>
            <a:ext cx="274320" cy="274320"/>
          </a:xfrm>
          <a:prstGeom prst="rect">
            <a:avLst/>
          </a:prstGeom>
        </p:spPr>
      </p:pic>
      <p:sp>
        <p:nvSpPr>
          <p:cNvPr id="6" name="Text 181"/>
          <p:cNvSpPr txBox="1"/>
          <p:nvPr/>
        </p:nvSpPr>
        <p:spPr>
          <a:xfrm>
            <a:off x="548640" y="2240280"/>
            <a:ext cx="2743200" cy="2194560"/>
          </a:xfrm>
          <a:prstGeom prst="rect">
            <a:avLst/>
          </a:prstGeom>
          <a:noFill/>
          <a:ln/>
        </p:spPr>
        <p:txBody>
          <a:bodyPr wrap="square" lIns="0" tIns="0" rIns="0" bIns="0" rtlCol="0" anchor="t"/>
          <a:lstStyle/>
          <a:p>
            <a:pPr indent="0" marL="0">
              <a:buNone/>
            </a:pPr>
            <a:r>
              <a:rPr lang="en-US" sz="1700" dirty="0">
                <a:solidFill>
                  <a:schemeClr val="bg1"/>
                </a:solidFill>
                <a:latin typeface="+mj-lt" pitchFamily="34" charset="0"/>
                <a:ea typeface="+mj-lt" pitchFamily="34" charset="-122"/>
                <a:cs typeface="+mj-lt" pitchFamily="34" charset="-120"/>
              </a:rPr>
              <a:t>Musicals by, about, and starring African Americans drew Black and white audiences together, helping pave the way for integration across American life.</a:t>
            </a:r>
            <a:endParaRPr lang="en-US" sz="1700" dirty="0"/>
          </a:p>
        </p:txBody>
      </p:sp>
      <p:sp>
        <p:nvSpPr>
          <p:cNvPr id="7" name="Card 182"/>
          <p:cNvSpPr/>
          <p:nvPr/>
        </p:nvSpPr>
        <p:spPr>
          <a:xfrm>
            <a:off x="3657600" y="1463040"/>
            <a:ext cx="2377440" cy="868680"/>
          </a:xfrm>
          <a:prstGeom prst="roundRect">
            <a:avLst>
              <a:gd name="adj" fmla="val 8421"/>
            </a:avLst>
          </a:prstGeom>
          <a:solidFill>
            <a:schemeClr val="tx2"/>
          </a:solidFill>
          <a:ln/>
        </p:spPr>
      </p:sp>
      <p:sp>
        <p:nvSpPr>
          <p:cNvPr id="8" name="Text 183"/>
          <p:cNvSpPr txBox="1"/>
          <p:nvPr/>
        </p:nvSpPr>
        <p:spPr>
          <a:xfrm>
            <a:off x="3822192" y="1572768"/>
            <a:ext cx="2103120" cy="292608"/>
          </a:xfrm>
          <a:prstGeom prst="rect">
            <a:avLst/>
          </a:prstGeom>
          <a:noFill/>
          <a:ln/>
        </p:spPr>
        <p:txBody>
          <a:bodyPr wrap="square" lIns="0" tIns="0" rIns="0" bIns="0" rtlCol="0" anchor="ctr"/>
          <a:lstStyle/>
          <a:p>
            <a:pPr indent="0" marL="0">
              <a:buNone/>
            </a:pPr>
            <a:r>
              <a:rPr lang="en-US" sz="1400" b="1" dirty="0">
                <a:solidFill>
                  <a:schemeClr val="accent1"/>
                </a:solidFill>
              </a:rPr>
              <a:t>Shuffle Along (1921)</a:t>
            </a:r>
            <a:endParaRPr lang="en-US" sz="1400" dirty="0"/>
          </a:p>
        </p:txBody>
      </p:sp>
      <p:sp>
        <p:nvSpPr>
          <p:cNvPr id="9" name="Text 184"/>
          <p:cNvSpPr txBox="1"/>
          <p:nvPr/>
        </p:nvSpPr>
        <p:spPr>
          <a:xfrm>
            <a:off x="3822192" y="1883664"/>
            <a:ext cx="2103120" cy="365760"/>
          </a:xfrm>
          <a:prstGeom prst="rect">
            <a:avLst/>
          </a:prstGeom>
          <a:noFill/>
          <a:ln/>
        </p:spPr>
        <p:txBody>
          <a:bodyPr wrap="square" lIns="0" tIns="0" rIns="0" bIns="0" rtlCol="0" anchor="t"/>
          <a:lstStyle/>
          <a:p>
            <a:pPr indent="0" marL="0">
              <a:buNone/>
            </a:pPr>
            <a:r>
              <a:rPr lang="en-US" sz="1200" dirty="0">
                <a:solidFill>
                  <a:schemeClr val="bg1"/>
                </a:solidFill>
              </a:rPr>
              <a:t>Broadway's first Black hit</a:t>
            </a:r>
            <a:endParaRPr lang="en-US" sz="1200" dirty="0"/>
          </a:p>
        </p:txBody>
      </p:sp>
      <p:sp>
        <p:nvSpPr>
          <p:cNvPr id="10" name="Card 185"/>
          <p:cNvSpPr/>
          <p:nvPr/>
        </p:nvSpPr>
        <p:spPr>
          <a:xfrm>
            <a:off x="6217920" y="1463040"/>
            <a:ext cx="2377440" cy="868680"/>
          </a:xfrm>
          <a:prstGeom prst="roundRect">
            <a:avLst>
              <a:gd name="adj" fmla="val 8421"/>
            </a:avLst>
          </a:prstGeom>
          <a:solidFill>
            <a:schemeClr val="tx2"/>
          </a:solidFill>
          <a:ln/>
        </p:spPr>
      </p:sp>
      <p:sp>
        <p:nvSpPr>
          <p:cNvPr id="11" name="Text 186"/>
          <p:cNvSpPr txBox="1"/>
          <p:nvPr/>
        </p:nvSpPr>
        <p:spPr>
          <a:xfrm>
            <a:off x="6382512" y="1572768"/>
            <a:ext cx="2103120" cy="292608"/>
          </a:xfrm>
          <a:prstGeom prst="rect">
            <a:avLst/>
          </a:prstGeom>
          <a:noFill/>
          <a:ln/>
        </p:spPr>
        <p:txBody>
          <a:bodyPr wrap="square" lIns="0" tIns="0" rIns="0" bIns="0" rtlCol="0" anchor="ctr"/>
          <a:lstStyle/>
          <a:p>
            <a:pPr indent="0" marL="0">
              <a:buNone/>
            </a:pPr>
            <a:r>
              <a:rPr lang="en-US" sz="1400" b="1" dirty="0">
                <a:solidFill>
                  <a:schemeClr val="accent1"/>
                </a:solidFill>
              </a:rPr>
              <a:t>The Wiz</a:t>
            </a:r>
            <a:endParaRPr lang="en-US" sz="1400" dirty="0"/>
          </a:p>
        </p:txBody>
      </p:sp>
      <p:sp>
        <p:nvSpPr>
          <p:cNvPr id="12" name="Text 187"/>
          <p:cNvSpPr txBox="1"/>
          <p:nvPr/>
        </p:nvSpPr>
        <p:spPr>
          <a:xfrm>
            <a:off x="6382512" y="1883664"/>
            <a:ext cx="2103120" cy="365760"/>
          </a:xfrm>
          <a:prstGeom prst="rect">
            <a:avLst/>
          </a:prstGeom>
          <a:noFill/>
          <a:ln/>
        </p:spPr>
        <p:txBody>
          <a:bodyPr wrap="square" lIns="0" tIns="0" rIns="0" bIns="0" rtlCol="0" anchor="t"/>
          <a:lstStyle/>
          <a:p>
            <a:pPr indent="0" marL="0">
              <a:buNone/>
            </a:pPr>
            <a:r>
              <a:rPr lang="en-US" sz="1200" dirty="0">
                <a:solidFill>
                  <a:schemeClr val="bg1"/>
                </a:solidFill>
              </a:rPr>
              <a:t>The Wizard of Oz, reimagined</a:t>
            </a:r>
            <a:endParaRPr lang="en-US" sz="1200" dirty="0"/>
          </a:p>
        </p:txBody>
      </p:sp>
      <p:sp>
        <p:nvSpPr>
          <p:cNvPr id="13" name="Card 188"/>
          <p:cNvSpPr/>
          <p:nvPr/>
        </p:nvSpPr>
        <p:spPr>
          <a:xfrm>
            <a:off x="3657600" y="2487168"/>
            <a:ext cx="2377440" cy="868680"/>
          </a:xfrm>
          <a:prstGeom prst="roundRect">
            <a:avLst>
              <a:gd name="adj" fmla="val 8421"/>
            </a:avLst>
          </a:prstGeom>
          <a:solidFill>
            <a:schemeClr val="tx2"/>
          </a:solidFill>
          <a:ln/>
        </p:spPr>
      </p:sp>
      <p:sp>
        <p:nvSpPr>
          <p:cNvPr id="14" name="Text 189"/>
          <p:cNvSpPr txBox="1"/>
          <p:nvPr/>
        </p:nvSpPr>
        <p:spPr>
          <a:xfrm>
            <a:off x="3822192" y="2596896"/>
            <a:ext cx="2103120" cy="292608"/>
          </a:xfrm>
          <a:prstGeom prst="rect">
            <a:avLst/>
          </a:prstGeom>
          <a:noFill/>
          <a:ln/>
        </p:spPr>
        <p:txBody>
          <a:bodyPr wrap="square" lIns="0" tIns="0" rIns="0" bIns="0" rtlCol="0" anchor="ctr"/>
          <a:lstStyle/>
          <a:p>
            <a:pPr indent="0" marL="0">
              <a:buNone/>
            </a:pPr>
            <a:r>
              <a:rPr lang="en-US" sz="1400" b="1" dirty="0">
                <a:solidFill>
                  <a:schemeClr val="accent1"/>
                </a:solidFill>
              </a:rPr>
              <a:t>Dreamgirls</a:t>
            </a:r>
            <a:endParaRPr lang="en-US" sz="1400" dirty="0"/>
          </a:p>
        </p:txBody>
      </p:sp>
      <p:sp>
        <p:nvSpPr>
          <p:cNvPr id="15" name="Text 190"/>
          <p:cNvSpPr txBox="1"/>
          <p:nvPr/>
        </p:nvSpPr>
        <p:spPr>
          <a:xfrm>
            <a:off x="3822192" y="2907792"/>
            <a:ext cx="2103120" cy="365760"/>
          </a:xfrm>
          <a:prstGeom prst="rect">
            <a:avLst/>
          </a:prstGeom>
          <a:noFill/>
          <a:ln/>
        </p:spPr>
        <p:txBody>
          <a:bodyPr wrap="square" lIns="0" tIns="0" rIns="0" bIns="0" rtlCol="0" anchor="t"/>
          <a:lstStyle/>
          <a:p>
            <a:pPr indent="0" marL="0">
              <a:buNone/>
            </a:pPr>
            <a:r>
              <a:rPr lang="en-US" sz="1200" dirty="0">
                <a:solidFill>
                  <a:schemeClr val="bg1"/>
                </a:solidFill>
              </a:rPr>
              <a:t>A Supremes-like group vs. racism</a:t>
            </a:r>
            <a:endParaRPr lang="en-US" sz="1200" dirty="0"/>
          </a:p>
        </p:txBody>
      </p:sp>
      <p:sp>
        <p:nvSpPr>
          <p:cNvPr id="16" name="Card 191"/>
          <p:cNvSpPr/>
          <p:nvPr/>
        </p:nvSpPr>
        <p:spPr>
          <a:xfrm>
            <a:off x="6217920" y="2487168"/>
            <a:ext cx="2377440" cy="868680"/>
          </a:xfrm>
          <a:prstGeom prst="roundRect">
            <a:avLst>
              <a:gd name="adj" fmla="val 8421"/>
            </a:avLst>
          </a:prstGeom>
          <a:solidFill>
            <a:schemeClr val="tx2"/>
          </a:solidFill>
          <a:ln/>
        </p:spPr>
      </p:sp>
      <p:sp>
        <p:nvSpPr>
          <p:cNvPr id="17" name="Text 192"/>
          <p:cNvSpPr txBox="1"/>
          <p:nvPr/>
        </p:nvSpPr>
        <p:spPr>
          <a:xfrm>
            <a:off x="6382512" y="2596896"/>
            <a:ext cx="2103120" cy="292608"/>
          </a:xfrm>
          <a:prstGeom prst="rect">
            <a:avLst/>
          </a:prstGeom>
          <a:noFill/>
          <a:ln/>
        </p:spPr>
        <p:txBody>
          <a:bodyPr wrap="square" lIns="0" tIns="0" rIns="0" bIns="0" rtlCol="0" anchor="ctr"/>
          <a:lstStyle/>
          <a:p>
            <a:pPr indent="0" marL="0">
              <a:buNone/>
            </a:pPr>
            <a:r>
              <a:rPr lang="en-US" sz="1400" b="1" dirty="0">
                <a:solidFill>
                  <a:schemeClr val="accent1"/>
                </a:solidFill>
              </a:rPr>
              <a:t>Bring in 'Da Noise…</a:t>
            </a:r>
            <a:endParaRPr lang="en-US" sz="1400" dirty="0"/>
          </a:p>
        </p:txBody>
      </p:sp>
      <p:sp>
        <p:nvSpPr>
          <p:cNvPr id="18" name="Text 193"/>
          <p:cNvSpPr txBox="1"/>
          <p:nvPr/>
        </p:nvSpPr>
        <p:spPr>
          <a:xfrm>
            <a:off x="6382512" y="2907792"/>
            <a:ext cx="2103120" cy="365760"/>
          </a:xfrm>
          <a:prstGeom prst="rect">
            <a:avLst/>
          </a:prstGeom>
          <a:noFill/>
          <a:ln/>
        </p:spPr>
        <p:txBody>
          <a:bodyPr wrap="square" lIns="0" tIns="0" rIns="0" bIns="0" rtlCol="0" anchor="t"/>
          <a:lstStyle/>
          <a:p>
            <a:pPr indent="0" marL="0">
              <a:buNone/>
            </a:pPr>
            <a:r>
              <a:rPr lang="en-US" sz="1200" dirty="0">
                <a:solidFill>
                  <a:schemeClr val="bg1"/>
                </a:solidFill>
              </a:rPr>
              <a:t>Racial history told through tap</a:t>
            </a:r>
            <a:endParaRPr lang="en-US" sz="1200" dirty="0"/>
          </a:p>
        </p:txBody>
      </p:sp>
      <p:sp>
        <p:nvSpPr>
          <p:cNvPr id="19" name="Card 194"/>
          <p:cNvSpPr/>
          <p:nvPr/>
        </p:nvSpPr>
        <p:spPr>
          <a:xfrm>
            <a:off x="3657600" y="3511296"/>
            <a:ext cx="2377440" cy="868680"/>
          </a:xfrm>
          <a:prstGeom prst="roundRect">
            <a:avLst>
              <a:gd name="adj" fmla="val 8421"/>
            </a:avLst>
          </a:prstGeom>
          <a:solidFill>
            <a:schemeClr val="tx2"/>
          </a:solidFill>
          <a:ln/>
        </p:spPr>
      </p:sp>
      <p:sp>
        <p:nvSpPr>
          <p:cNvPr id="20" name="Text 195"/>
          <p:cNvSpPr txBox="1"/>
          <p:nvPr/>
        </p:nvSpPr>
        <p:spPr>
          <a:xfrm>
            <a:off x="3822192" y="3621024"/>
            <a:ext cx="2103120" cy="292608"/>
          </a:xfrm>
          <a:prstGeom prst="rect">
            <a:avLst/>
          </a:prstGeom>
          <a:noFill/>
          <a:ln/>
        </p:spPr>
        <p:txBody>
          <a:bodyPr wrap="square" lIns="0" tIns="0" rIns="0" bIns="0" rtlCol="0" anchor="ctr"/>
          <a:lstStyle/>
          <a:p>
            <a:pPr indent="0" marL="0">
              <a:buNone/>
            </a:pPr>
            <a:r>
              <a:rPr lang="en-US" sz="1400" b="1" dirty="0">
                <a:solidFill>
                  <a:schemeClr val="accent1"/>
                </a:solidFill>
              </a:rPr>
              <a:t>Fela! (2009)</a:t>
            </a:r>
            <a:endParaRPr lang="en-US" sz="1400" dirty="0"/>
          </a:p>
        </p:txBody>
      </p:sp>
      <p:sp>
        <p:nvSpPr>
          <p:cNvPr id="21" name="Text 196"/>
          <p:cNvSpPr txBox="1"/>
          <p:nvPr/>
        </p:nvSpPr>
        <p:spPr>
          <a:xfrm>
            <a:off x="3822192" y="3931920"/>
            <a:ext cx="2103120" cy="365760"/>
          </a:xfrm>
          <a:prstGeom prst="rect">
            <a:avLst/>
          </a:prstGeom>
          <a:noFill/>
          <a:ln/>
        </p:spPr>
        <p:txBody>
          <a:bodyPr wrap="square" lIns="0" tIns="0" rIns="0" bIns="0" rtlCol="0" anchor="t"/>
          <a:lstStyle/>
          <a:p>
            <a:pPr indent="0" marL="0">
              <a:buNone/>
            </a:pPr>
            <a:r>
              <a:rPr lang="en-US" sz="1200" dirty="0">
                <a:solidFill>
                  <a:schemeClr val="bg1"/>
                </a:solidFill>
              </a:rPr>
              <a:t>Afrobeat and Nigerian politics</a:t>
            </a:r>
            <a:endParaRPr lang="en-US" sz="1200" dirty="0"/>
          </a:p>
        </p:txBody>
      </p:sp>
      <p:sp>
        <p:nvSpPr>
          <p:cNvPr id="22" name="Card 197"/>
          <p:cNvSpPr/>
          <p:nvPr/>
        </p:nvSpPr>
        <p:spPr>
          <a:xfrm>
            <a:off x="6217920" y="3511296"/>
            <a:ext cx="2377440" cy="868680"/>
          </a:xfrm>
          <a:prstGeom prst="roundRect">
            <a:avLst>
              <a:gd name="adj" fmla="val 8421"/>
            </a:avLst>
          </a:prstGeom>
          <a:solidFill>
            <a:schemeClr val="tx2"/>
          </a:solidFill>
          <a:ln/>
        </p:spPr>
      </p:sp>
      <p:sp>
        <p:nvSpPr>
          <p:cNvPr id="23" name="Text 198"/>
          <p:cNvSpPr txBox="1"/>
          <p:nvPr/>
        </p:nvSpPr>
        <p:spPr>
          <a:xfrm>
            <a:off x="6382512" y="3621024"/>
            <a:ext cx="2103120" cy="292608"/>
          </a:xfrm>
          <a:prstGeom prst="rect">
            <a:avLst/>
          </a:prstGeom>
          <a:noFill/>
          <a:ln/>
        </p:spPr>
        <p:txBody>
          <a:bodyPr wrap="square" lIns="0" tIns="0" rIns="0" bIns="0" rtlCol="0" anchor="ctr"/>
          <a:lstStyle/>
          <a:p>
            <a:pPr indent="0" marL="0">
              <a:buNone/>
            </a:pPr>
            <a:r>
              <a:rPr lang="en-US" sz="1400" b="1" dirty="0">
                <a:solidFill>
                  <a:schemeClr val="accent1"/>
                </a:solidFill>
              </a:rPr>
              <a:t>Scottsboro Boys (2010)</a:t>
            </a:r>
            <a:endParaRPr lang="en-US" sz="1400" dirty="0"/>
          </a:p>
        </p:txBody>
      </p:sp>
      <p:sp>
        <p:nvSpPr>
          <p:cNvPr id="24" name="Text 199"/>
          <p:cNvSpPr txBox="1"/>
          <p:nvPr/>
        </p:nvSpPr>
        <p:spPr>
          <a:xfrm>
            <a:off x="6382512" y="3931920"/>
            <a:ext cx="2103120" cy="365760"/>
          </a:xfrm>
          <a:prstGeom prst="rect">
            <a:avLst/>
          </a:prstGeom>
          <a:noFill/>
          <a:ln/>
        </p:spPr>
        <p:txBody>
          <a:bodyPr wrap="square" lIns="0" tIns="0" rIns="0" bIns="0" rtlCol="0" anchor="t"/>
          <a:lstStyle/>
          <a:p>
            <a:pPr indent="0" marL="0">
              <a:buNone/>
            </a:pPr>
            <a:r>
              <a:rPr lang="en-US" sz="1200" dirty="0">
                <a:solidFill>
                  <a:schemeClr val="bg1"/>
                </a:solidFill>
              </a:rPr>
              <a:t>Injustice as an ironic minstrel show</a:t>
            </a:r>
            <a:endParaRPr lang="en-US" sz="12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046720" cy="274320"/>
          </a:xfrm>
          <a:prstGeom prst="rect">
            <a:avLst/>
          </a:prstGeom>
          <a:noFill/>
          <a:ln/>
        </p:spPr>
        <p:txBody>
          <a:bodyPr wrap="square" lIns="0" tIns="0" rIns="0" bIns="0" rtlCol="0"/>
          <a:lstStyle/>
          <a:p>
            <a:pPr indent="0" marL="0">
              <a:buNone/>
            </a:pPr>
            <a:r>
              <a:rPr lang="en-US" sz="1200" b="1" spc="400" kern="0" dirty="0">
                <a:solidFill>
                  <a:schemeClr val="accent1"/>
                </a:solidFill>
              </a:rPr>
              <a:t>THE 21ST CENTURY</a:t>
            </a:r>
            <a:endParaRPr lang="en-US" sz="1200" dirty="0"/>
          </a:p>
        </p:txBody>
      </p:sp>
      <p:sp>
        <p:nvSpPr>
          <p:cNvPr id="3" name="Text 0"/>
          <p:cNvSpPr/>
          <p:nvPr>
            <p:ph idx="101" type="title" hasCustomPrompt="1"/>
          </p:nvPr>
        </p:nvSpPr>
        <p:spPr>
          <a:xfrm>
            <a:off x="548640" y="621792"/>
            <a:ext cx="8046720" cy="640080"/>
          </a:xfrm>
          <a:prstGeom prst="rect">
            <a:avLst/>
          </a:prstGeom>
          <a:noFill/>
          <a:ln/>
        </p:spPr>
        <p:txBody>
          <a:bodyPr wrap="square" lIns="0" tIns="0" rIns="0" bIns="0" rtlCol="0" anchor="ctr"/>
          <a:lstStyle/>
          <a:p>
            <a:pPr indent="0" marL="0">
              <a:buNone/>
            </a:pPr>
            <a:r>
              <a:rPr lang="en-US" sz="3600" b="1" dirty="0">
                <a:solidFill>
                  <a:schemeClr val="bg1"/>
                </a:solidFill>
              </a:rPr>
              <a:t>The Musical Gets Real</a:t>
            </a:r>
            <a:endParaRPr lang="en-US" sz="3600" dirty="0"/>
          </a:p>
        </p:txBody>
      </p:sp>
      <p:sp>
        <p:nvSpPr>
          <p:cNvPr id="4" name="Dot 200"/>
          <p:cNvSpPr/>
          <p:nvPr/>
        </p:nvSpPr>
        <p:spPr>
          <a:xfrm>
            <a:off x="548640" y="1581912"/>
            <a:ext cx="182880" cy="182880"/>
          </a:xfrm>
          <a:prstGeom prst="ellipse">
            <a:avLst/>
          </a:prstGeom>
          <a:solidFill>
            <a:schemeClr val="accent1"/>
          </a:solidFill>
          <a:ln/>
        </p:spPr>
      </p:sp>
      <p:sp>
        <p:nvSpPr>
          <p:cNvPr id="5" name="Text 201"/>
          <p:cNvSpPr txBox="1"/>
          <p:nvPr/>
        </p:nvSpPr>
        <p:spPr>
          <a:xfrm>
            <a:off x="914400" y="1463040"/>
            <a:ext cx="1920240" cy="420624"/>
          </a:xfrm>
          <a:prstGeom prst="rect">
            <a:avLst/>
          </a:prstGeom>
          <a:noFill/>
          <a:ln/>
        </p:spPr>
        <p:txBody>
          <a:bodyPr wrap="square" lIns="0" tIns="0" rIns="0" bIns="0" rtlCol="0" anchor="ctr"/>
          <a:lstStyle/>
          <a:p>
            <a:pPr indent="0" marL="0">
              <a:buNone/>
            </a:pPr>
            <a:r>
              <a:rPr lang="en-US" sz="1500" b="1" dirty="0">
                <a:solidFill>
                  <a:schemeClr val="accent1"/>
                </a:solidFill>
                <a:latin typeface="+mj-lt" pitchFamily="34" charset="0"/>
                <a:ea typeface="+mj-lt" pitchFamily="34" charset="-122"/>
                <a:cs typeface="+mj-lt" pitchFamily="34" charset="-120"/>
              </a:rPr>
              <a:t>Next to Normal</a:t>
            </a:r>
            <a:endParaRPr lang="en-US" sz="1500" dirty="0"/>
          </a:p>
        </p:txBody>
      </p:sp>
      <p:sp>
        <p:nvSpPr>
          <p:cNvPr id="6" name="Text 202"/>
          <p:cNvSpPr txBox="1"/>
          <p:nvPr/>
        </p:nvSpPr>
        <p:spPr>
          <a:xfrm>
            <a:off x="2880360" y="1463040"/>
            <a:ext cx="2606040" cy="420624"/>
          </a:xfrm>
          <a:prstGeom prst="rect">
            <a:avLst/>
          </a:prstGeom>
          <a:noFill/>
          <a:ln/>
        </p:spPr>
        <p:txBody>
          <a:bodyPr wrap="square" lIns="0" tIns="0" rIns="0" bIns="0" rtlCol="0" anchor="ctr"/>
          <a:lstStyle/>
          <a:p>
            <a:pPr indent="0" marL="0">
              <a:buNone/>
            </a:pPr>
            <a:r>
              <a:rPr lang="en-US" sz="1300" dirty="0">
                <a:solidFill>
                  <a:schemeClr val="bg1"/>
                </a:solidFill>
              </a:rPr>
              <a:t>Bipolar disorder in a family; 2010 Pulitzer Prize</a:t>
            </a:r>
            <a:endParaRPr lang="en-US" sz="1300" dirty="0"/>
          </a:p>
        </p:txBody>
      </p:sp>
      <p:sp>
        <p:nvSpPr>
          <p:cNvPr id="7" name="Dot 203"/>
          <p:cNvSpPr/>
          <p:nvPr/>
        </p:nvSpPr>
        <p:spPr>
          <a:xfrm>
            <a:off x="548640" y="2185416"/>
            <a:ext cx="182880" cy="182880"/>
          </a:xfrm>
          <a:prstGeom prst="ellipse">
            <a:avLst/>
          </a:prstGeom>
          <a:solidFill>
            <a:schemeClr val="accent1"/>
          </a:solidFill>
          <a:ln/>
        </p:spPr>
      </p:sp>
      <p:sp>
        <p:nvSpPr>
          <p:cNvPr id="8" name="Text 204"/>
          <p:cNvSpPr txBox="1"/>
          <p:nvPr/>
        </p:nvSpPr>
        <p:spPr>
          <a:xfrm>
            <a:off x="914400" y="2066544"/>
            <a:ext cx="1920240" cy="420624"/>
          </a:xfrm>
          <a:prstGeom prst="rect">
            <a:avLst/>
          </a:prstGeom>
          <a:noFill/>
          <a:ln/>
        </p:spPr>
        <p:txBody>
          <a:bodyPr wrap="square" lIns="0" tIns="0" rIns="0" bIns="0" rtlCol="0" anchor="ctr"/>
          <a:lstStyle/>
          <a:p>
            <a:pPr indent="0" marL="0">
              <a:buNone/>
            </a:pPr>
            <a:r>
              <a:rPr lang="en-US" sz="1500" b="1" dirty="0">
                <a:solidFill>
                  <a:schemeClr val="accent1"/>
                </a:solidFill>
                <a:latin typeface="+mj-lt" pitchFamily="34" charset="0"/>
                <a:ea typeface="+mj-lt" pitchFamily="34" charset="-122"/>
                <a:cs typeface="+mj-lt" pitchFamily="34" charset="-120"/>
              </a:rPr>
              <a:t>Spring Awakening</a:t>
            </a:r>
            <a:endParaRPr lang="en-US" sz="1500" dirty="0"/>
          </a:p>
        </p:txBody>
      </p:sp>
      <p:sp>
        <p:nvSpPr>
          <p:cNvPr id="9" name="Text 205"/>
          <p:cNvSpPr txBox="1"/>
          <p:nvPr/>
        </p:nvSpPr>
        <p:spPr>
          <a:xfrm>
            <a:off x="2880360" y="2066544"/>
            <a:ext cx="2606040" cy="420624"/>
          </a:xfrm>
          <a:prstGeom prst="rect">
            <a:avLst/>
          </a:prstGeom>
          <a:noFill/>
          <a:ln/>
        </p:spPr>
        <p:txBody>
          <a:bodyPr wrap="square" lIns="0" tIns="0" rIns="0" bIns="0" rtlCol="0" anchor="ctr"/>
          <a:lstStyle/>
          <a:p>
            <a:pPr indent="0" marL="0">
              <a:buNone/>
            </a:pPr>
            <a:r>
              <a:rPr lang="en-US" sz="1300" dirty="0">
                <a:solidFill>
                  <a:schemeClr val="bg1"/>
                </a:solidFill>
              </a:rPr>
              <a:t>Teens kept in the dark by adults</a:t>
            </a:r>
            <a:endParaRPr lang="en-US" sz="1300" dirty="0"/>
          </a:p>
        </p:txBody>
      </p:sp>
      <p:sp>
        <p:nvSpPr>
          <p:cNvPr id="10" name="Dot 206"/>
          <p:cNvSpPr/>
          <p:nvPr/>
        </p:nvSpPr>
        <p:spPr>
          <a:xfrm>
            <a:off x="548640" y="2788920"/>
            <a:ext cx="182880" cy="182880"/>
          </a:xfrm>
          <a:prstGeom prst="ellipse">
            <a:avLst/>
          </a:prstGeom>
          <a:solidFill>
            <a:schemeClr val="accent1"/>
          </a:solidFill>
          <a:ln/>
        </p:spPr>
      </p:sp>
      <p:sp>
        <p:nvSpPr>
          <p:cNvPr id="11" name="Text 207"/>
          <p:cNvSpPr txBox="1"/>
          <p:nvPr/>
        </p:nvSpPr>
        <p:spPr>
          <a:xfrm>
            <a:off x="914400" y="2670048"/>
            <a:ext cx="1920240" cy="420624"/>
          </a:xfrm>
          <a:prstGeom prst="rect">
            <a:avLst/>
          </a:prstGeom>
          <a:noFill/>
          <a:ln/>
        </p:spPr>
        <p:txBody>
          <a:bodyPr wrap="square" lIns="0" tIns="0" rIns="0" bIns="0" rtlCol="0" anchor="ctr"/>
          <a:lstStyle/>
          <a:p>
            <a:pPr indent="0" marL="0">
              <a:buNone/>
            </a:pPr>
            <a:r>
              <a:rPr lang="en-US" sz="1500" b="1" dirty="0">
                <a:solidFill>
                  <a:schemeClr val="accent1"/>
                </a:solidFill>
                <a:latin typeface="+mj-lt" pitchFamily="34" charset="0"/>
                <a:ea typeface="+mj-lt" pitchFamily="34" charset="-122"/>
                <a:cs typeface="+mj-lt" pitchFamily="34" charset="-120"/>
              </a:rPr>
              <a:t>In the Heights</a:t>
            </a:r>
            <a:endParaRPr lang="en-US" sz="1500" dirty="0"/>
          </a:p>
        </p:txBody>
      </p:sp>
      <p:sp>
        <p:nvSpPr>
          <p:cNvPr id="12" name="Text 208"/>
          <p:cNvSpPr txBox="1"/>
          <p:nvPr/>
        </p:nvSpPr>
        <p:spPr>
          <a:xfrm>
            <a:off x="2880360" y="2670048"/>
            <a:ext cx="2606040" cy="420624"/>
          </a:xfrm>
          <a:prstGeom prst="rect">
            <a:avLst/>
          </a:prstGeom>
          <a:noFill/>
          <a:ln/>
        </p:spPr>
        <p:txBody>
          <a:bodyPr wrap="square" lIns="0" tIns="0" rIns="0" bIns="0" rtlCol="0" anchor="ctr"/>
          <a:lstStyle/>
          <a:p>
            <a:pPr indent="0" marL="0">
              <a:buNone/>
            </a:pPr>
            <a:r>
              <a:rPr lang="en-US" sz="1300" dirty="0">
                <a:solidFill>
                  <a:schemeClr val="bg1"/>
                </a:solidFill>
              </a:rPr>
              <a:t>Barrio life in Washington Heights</a:t>
            </a:r>
            <a:endParaRPr lang="en-US" sz="1300" dirty="0"/>
          </a:p>
        </p:txBody>
      </p:sp>
      <p:sp>
        <p:nvSpPr>
          <p:cNvPr id="13" name="Dot 209"/>
          <p:cNvSpPr/>
          <p:nvPr/>
        </p:nvSpPr>
        <p:spPr>
          <a:xfrm>
            <a:off x="548640" y="3392424"/>
            <a:ext cx="182880" cy="182880"/>
          </a:xfrm>
          <a:prstGeom prst="ellipse">
            <a:avLst/>
          </a:prstGeom>
          <a:solidFill>
            <a:schemeClr val="accent1"/>
          </a:solidFill>
          <a:ln/>
        </p:spPr>
      </p:sp>
      <p:sp>
        <p:nvSpPr>
          <p:cNvPr id="14" name="Text 210"/>
          <p:cNvSpPr txBox="1"/>
          <p:nvPr/>
        </p:nvSpPr>
        <p:spPr>
          <a:xfrm>
            <a:off x="914400" y="3273552"/>
            <a:ext cx="1920240" cy="420624"/>
          </a:xfrm>
          <a:prstGeom prst="rect">
            <a:avLst/>
          </a:prstGeom>
          <a:noFill/>
          <a:ln/>
        </p:spPr>
        <p:txBody>
          <a:bodyPr wrap="square" lIns="0" tIns="0" rIns="0" bIns="0" rtlCol="0" anchor="ctr"/>
          <a:lstStyle/>
          <a:p>
            <a:pPr indent="0" marL="0">
              <a:buNone/>
            </a:pPr>
            <a:r>
              <a:rPr lang="en-US" sz="1500" b="1" dirty="0">
                <a:solidFill>
                  <a:schemeClr val="accent1"/>
                </a:solidFill>
                <a:latin typeface="+mj-lt" pitchFamily="34" charset="0"/>
                <a:ea typeface="+mj-lt" pitchFamily="34" charset="-122"/>
                <a:cs typeface="+mj-lt" pitchFamily="34" charset="-120"/>
              </a:rPr>
              <a:t>Fun Home</a:t>
            </a:r>
            <a:endParaRPr lang="en-US" sz="1500" dirty="0"/>
          </a:p>
        </p:txBody>
      </p:sp>
      <p:sp>
        <p:nvSpPr>
          <p:cNvPr id="15" name="Text 211"/>
          <p:cNvSpPr txBox="1"/>
          <p:nvPr/>
        </p:nvSpPr>
        <p:spPr>
          <a:xfrm>
            <a:off x="2880360" y="3273552"/>
            <a:ext cx="2606040" cy="420624"/>
          </a:xfrm>
          <a:prstGeom prst="rect">
            <a:avLst/>
          </a:prstGeom>
          <a:noFill/>
          <a:ln/>
        </p:spPr>
        <p:txBody>
          <a:bodyPr wrap="square" lIns="0" tIns="0" rIns="0" bIns="0" rtlCol="0" anchor="ctr"/>
          <a:lstStyle/>
          <a:p>
            <a:pPr indent="0" marL="0">
              <a:buNone/>
            </a:pPr>
            <a:r>
              <a:rPr lang="en-US" sz="1300" dirty="0">
                <a:solidFill>
                  <a:schemeClr val="bg1"/>
                </a:solidFill>
              </a:rPr>
              <a:t>Identity and family secrets; 2015 Best Musical</a:t>
            </a:r>
            <a:endParaRPr lang="en-US" sz="1300" dirty="0"/>
          </a:p>
        </p:txBody>
      </p:sp>
      <p:sp>
        <p:nvSpPr>
          <p:cNvPr id="16" name="Dot 212"/>
          <p:cNvSpPr/>
          <p:nvPr/>
        </p:nvSpPr>
        <p:spPr>
          <a:xfrm>
            <a:off x="548640" y="3995928"/>
            <a:ext cx="182880" cy="182880"/>
          </a:xfrm>
          <a:prstGeom prst="ellipse">
            <a:avLst/>
          </a:prstGeom>
          <a:solidFill>
            <a:schemeClr val="accent1"/>
          </a:solidFill>
          <a:ln/>
        </p:spPr>
      </p:sp>
      <p:sp>
        <p:nvSpPr>
          <p:cNvPr id="17" name="Text 213"/>
          <p:cNvSpPr txBox="1"/>
          <p:nvPr/>
        </p:nvSpPr>
        <p:spPr>
          <a:xfrm>
            <a:off x="914400" y="3877056"/>
            <a:ext cx="1920240" cy="420624"/>
          </a:xfrm>
          <a:prstGeom prst="rect">
            <a:avLst/>
          </a:prstGeom>
          <a:noFill/>
          <a:ln/>
        </p:spPr>
        <p:txBody>
          <a:bodyPr wrap="square" lIns="0" tIns="0" rIns="0" bIns="0" rtlCol="0" anchor="ctr"/>
          <a:lstStyle/>
          <a:p>
            <a:pPr indent="0" marL="0">
              <a:buNone/>
            </a:pPr>
            <a:r>
              <a:rPr lang="en-US" sz="1500" b="1" dirty="0">
                <a:solidFill>
                  <a:schemeClr val="accent1"/>
                </a:solidFill>
                <a:latin typeface="+mj-lt" pitchFamily="34" charset="0"/>
                <a:ea typeface="+mj-lt" pitchFamily="34" charset="-122"/>
                <a:cs typeface="+mj-lt" pitchFamily="34" charset="-120"/>
              </a:rPr>
              <a:t>Hamilton</a:t>
            </a:r>
            <a:endParaRPr lang="en-US" sz="1500" dirty="0"/>
          </a:p>
        </p:txBody>
      </p:sp>
      <p:sp>
        <p:nvSpPr>
          <p:cNvPr id="18" name="Text 214"/>
          <p:cNvSpPr txBox="1"/>
          <p:nvPr/>
        </p:nvSpPr>
        <p:spPr>
          <a:xfrm>
            <a:off x="2880360" y="3877056"/>
            <a:ext cx="2606040" cy="420624"/>
          </a:xfrm>
          <a:prstGeom prst="rect">
            <a:avLst/>
          </a:prstGeom>
          <a:noFill/>
          <a:ln/>
        </p:spPr>
        <p:txBody>
          <a:bodyPr wrap="square" lIns="0" tIns="0" rIns="0" bIns="0" rtlCol="0" anchor="ctr"/>
          <a:lstStyle/>
          <a:p>
            <a:pPr indent="0" marL="0">
              <a:buNone/>
            </a:pPr>
            <a:r>
              <a:rPr lang="en-US" sz="1300" dirty="0">
                <a:solidFill>
                  <a:schemeClr val="bg1"/>
                </a:solidFill>
              </a:rPr>
              <a:t>America's founders, told in hip-hop</a:t>
            </a:r>
            <a:endParaRPr lang="en-US" sz="1300" dirty="0"/>
          </a:p>
        </p:txBody>
      </p:sp>
      <p:sp>
        <p:nvSpPr>
          <p:cNvPr id="19" name="Card 215"/>
          <p:cNvSpPr/>
          <p:nvPr/>
        </p:nvSpPr>
        <p:spPr>
          <a:xfrm>
            <a:off x="5760720" y="1463040"/>
            <a:ext cx="2834640" cy="3017520"/>
          </a:xfrm>
          <a:prstGeom prst="roundRect">
            <a:avLst>
              <a:gd name="adj" fmla="val 2581"/>
            </a:avLst>
          </a:prstGeom>
          <a:solidFill>
            <a:schemeClr val="accent2"/>
          </a:solidFill>
          <a:ln/>
        </p:spPr>
      </p:sp>
      <p:sp>
        <p:nvSpPr>
          <p:cNvPr id="20" name="Dot 216"/>
          <p:cNvSpPr/>
          <p:nvPr/>
        </p:nvSpPr>
        <p:spPr>
          <a:xfrm>
            <a:off x="5989320" y="1691640"/>
            <a:ext cx="502920" cy="502920"/>
          </a:xfrm>
          <a:prstGeom prst="ellipse">
            <a:avLst/>
          </a:prstGeom>
          <a:solidFill>
            <a:schemeClr val="accent1"/>
          </a:solidFill>
          <a:ln/>
        </p:spPr>
      </p:sp>
      <p:pic>
        <p:nvPicPr>
          <p:cNvPr id="21" name="Icon 217" descr="preencoded.png">    </p:cNvPr>
          <p:cNvPicPr>
            <a:picLocks noChangeAspect="1"/>
          </p:cNvPicPr>
          <p:nvPr/>
        </p:nvPicPr>
        <p:blipFill>
          <a:blip r:embed="rId1"/>
          <a:stretch>
            <a:fillRect/>
          </a:stretch>
        </p:blipFill>
        <p:spPr>
          <a:xfrm>
            <a:off x="6115050" y="1817370"/>
            <a:ext cx="251460" cy="251460"/>
          </a:xfrm>
          <a:prstGeom prst="rect">
            <a:avLst/>
          </a:prstGeom>
        </p:spPr>
      </p:pic>
      <p:sp>
        <p:nvSpPr>
          <p:cNvPr id="22" name="Text 218"/>
          <p:cNvSpPr txBox="1"/>
          <p:nvPr/>
        </p:nvSpPr>
        <p:spPr>
          <a:xfrm>
            <a:off x="5989320" y="2377440"/>
            <a:ext cx="2423160" cy="1965960"/>
          </a:xfrm>
          <a:prstGeom prst="rect">
            <a:avLst/>
          </a:prstGeom>
          <a:noFill/>
          <a:ln/>
        </p:spPr>
        <p:txBody>
          <a:bodyPr wrap="square" lIns="0" tIns="0" rIns="0" bIns="0" rtlCol="0" anchor="t"/>
          <a:lstStyle/>
          <a:p>
            <a:pPr indent="0" marL="0">
              <a:buNone/>
            </a:pPr>
            <a:r>
              <a:rPr lang="en-US" sz="1500" i="1" dirty="0">
                <a:solidFill>
                  <a:schemeClr val="bg1"/>
                </a:solidFill>
                <a:latin typeface="+mj-lt" pitchFamily="34" charset="0"/>
                <a:ea typeface="+mj-lt" pitchFamily="34" charset="-122"/>
                <a:cs typeface="+mj-lt" pitchFamily="34" charset="-120"/>
              </a:rPr>
              <a:t>Even the darkest new musical shares the same theatrical DNA as the Ziegfeld Follies: it still wants to entertain, and we still feel the urge to clap.</a:t>
            </a:r>
            <a:endParaRPr lang="en-US" sz="15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914400" y="1417320"/>
            <a:ext cx="7315200" cy="320040"/>
          </a:xfrm>
          <a:prstGeom prst="rect">
            <a:avLst/>
          </a:prstGeom>
          <a:noFill/>
          <a:ln/>
        </p:spPr>
        <p:txBody>
          <a:bodyPr wrap="square" lIns="0" tIns="0" rIns="0" bIns="0" rtlCol="0"/>
          <a:lstStyle/>
          <a:p>
            <a:pPr algn="ctr" indent="0" marL="0">
              <a:buNone/>
            </a:pPr>
            <a:r>
              <a:rPr lang="en-US" sz="1300" b="1" spc="500" kern="0" dirty="0">
                <a:solidFill>
                  <a:schemeClr val="accent1"/>
                </a:solidFill>
              </a:rPr>
              <a:t>THE FINAL BOW</a:t>
            </a:r>
            <a:endParaRPr lang="en-US" sz="1300" dirty="0"/>
          </a:p>
        </p:txBody>
      </p:sp>
      <p:sp>
        <p:nvSpPr>
          <p:cNvPr id="3" name="Text 0"/>
          <p:cNvSpPr/>
          <p:nvPr>
            <p:ph idx="101" type="title" hasCustomPrompt="1"/>
          </p:nvPr>
        </p:nvSpPr>
        <p:spPr>
          <a:xfrm>
            <a:off x="685800" y="1783080"/>
            <a:ext cx="7772400" cy="1371600"/>
          </a:xfrm>
          <a:prstGeom prst="rect">
            <a:avLst/>
          </a:prstGeom>
          <a:noFill/>
          <a:ln/>
        </p:spPr>
        <p:txBody>
          <a:bodyPr wrap="square" lIns="0" tIns="0" rIns="0" bIns="0" rtlCol="0" anchor="ctr"/>
          <a:lstStyle/>
          <a:p>
            <a:pPr algn="ctr" indent="0" marL="0">
              <a:buNone/>
            </a:pPr>
            <a:r>
              <a:rPr lang="en-US" sz="4400" b="1" dirty="0">
                <a:solidFill>
                  <a:schemeClr val="bg1"/>
                </a:solidFill>
              </a:rPr>
              <a:t>A New Golden Age?</a:t>
            </a:r>
            <a:endParaRPr lang="en-US" sz="4400" dirty="0"/>
          </a:p>
        </p:txBody>
      </p:sp>
      <p:sp>
        <p:nvSpPr>
          <p:cNvPr id="4" name="Dot 219"/>
          <p:cNvSpPr/>
          <p:nvPr/>
        </p:nvSpPr>
        <p:spPr>
          <a:xfrm>
            <a:off x="822960" y="3291840"/>
            <a:ext cx="457200" cy="457200"/>
          </a:xfrm>
          <a:prstGeom prst="ellipse">
            <a:avLst/>
          </a:prstGeom>
          <a:solidFill>
            <a:schemeClr val="accent1"/>
          </a:solidFill>
          <a:ln/>
        </p:spPr>
      </p:sp>
      <p:sp>
        <p:nvSpPr>
          <p:cNvPr id="5" name="Text 220"/>
          <p:cNvSpPr txBox="1"/>
          <p:nvPr/>
        </p:nvSpPr>
        <p:spPr>
          <a:xfrm>
            <a:off x="822960" y="32918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1</a:t>
            </a:r>
            <a:endParaRPr lang="en-US" sz="1800" dirty="0"/>
          </a:p>
        </p:txBody>
      </p:sp>
      <p:sp>
        <p:nvSpPr>
          <p:cNvPr id="6" name="Text 221"/>
          <p:cNvSpPr txBox="1"/>
          <p:nvPr/>
        </p:nvSpPr>
        <p:spPr>
          <a:xfrm>
            <a:off x="1417320" y="3200400"/>
            <a:ext cx="1783080" cy="868680"/>
          </a:xfrm>
          <a:prstGeom prst="rect">
            <a:avLst/>
          </a:prstGeom>
          <a:noFill/>
          <a:ln/>
        </p:spPr>
        <p:txBody>
          <a:bodyPr wrap="square" lIns="0" tIns="0" rIns="0" bIns="0" rtlCol="0" anchor="ctr"/>
          <a:lstStyle/>
          <a:p>
            <a:pPr indent="0" marL="0">
              <a:buNone/>
            </a:pPr>
            <a:r>
              <a:rPr lang="en-US" sz="1400" dirty="0">
                <a:solidFill>
                  <a:schemeClr val="bg1"/>
                </a:solidFill>
              </a:rPr>
              <a:t>Music has been part of drama since ancient Greece</a:t>
            </a:r>
            <a:endParaRPr lang="en-US" sz="1400" dirty="0"/>
          </a:p>
        </p:txBody>
      </p:sp>
      <p:sp>
        <p:nvSpPr>
          <p:cNvPr id="7" name="Dot 222"/>
          <p:cNvSpPr/>
          <p:nvPr/>
        </p:nvSpPr>
        <p:spPr>
          <a:xfrm>
            <a:off x="3429000" y="3291840"/>
            <a:ext cx="457200" cy="457200"/>
          </a:xfrm>
          <a:prstGeom prst="ellipse">
            <a:avLst/>
          </a:prstGeom>
          <a:solidFill>
            <a:schemeClr val="accent1"/>
          </a:solidFill>
          <a:ln/>
        </p:spPr>
      </p:sp>
      <p:sp>
        <p:nvSpPr>
          <p:cNvPr id="8" name="Text 223"/>
          <p:cNvSpPr txBox="1"/>
          <p:nvPr/>
        </p:nvSpPr>
        <p:spPr>
          <a:xfrm>
            <a:off x="3429000" y="32918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2</a:t>
            </a:r>
            <a:endParaRPr lang="en-US" sz="1800" dirty="0"/>
          </a:p>
        </p:txBody>
      </p:sp>
      <p:sp>
        <p:nvSpPr>
          <p:cNvPr id="9" name="Text 224"/>
          <p:cNvSpPr txBox="1"/>
          <p:nvPr/>
        </p:nvSpPr>
        <p:spPr>
          <a:xfrm>
            <a:off x="4023360" y="3200400"/>
            <a:ext cx="1783080" cy="868680"/>
          </a:xfrm>
          <a:prstGeom prst="rect">
            <a:avLst/>
          </a:prstGeom>
          <a:noFill/>
          <a:ln/>
        </p:spPr>
        <p:txBody>
          <a:bodyPr wrap="square" lIns="0" tIns="0" rIns="0" bIns="0" rtlCol="0" anchor="ctr"/>
          <a:lstStyle/>
          <a:p>
            <a:pPr indent="0" marL="0">
              <a:buNone/>
            </a:pPr>
            <a:r>
              <a:rPr lang="en-US" sz="1400" dirty="0">
                <a:solidFill>
                  <a:schemeClr val="bg1"/>
                </a:solidFill>
              </a:rPr>
              <a:t>America made it its own art form, from spectacle to serious story</a:t>
            </a:r>
            <a:endParaRPr lang="en-US" sz="1400" dirty="0"/>
          </a:p>
        </p:txBody>
      </p:sp>
      <p:sp>
        <p:nvSpPr>
          <p:cNvPr id="10" name="Dot 225"/>
          <p:cNvSpPr/>
          <p:nvPr/>
        </p:nvSpPr>
        <p:spPr>
          <a:xfrm>
            <a:off x="6035040" y="3291840"/>
            <a:ext cx="457200" cy="457200"/>
          </a:xfrm>
          <a:prstGeom prst="ellipse">
            <a:avLst/>
          </a:prstGeom>
          <a:solidFill>
            <a:schemeClr val="accent1"/>
          </a:solidFill>
          <a:ln/>
        </p:spPr>
      </p:sp>
      <p:sp>
        <p:nvSpPr>
          <p:cNvPr id="11" name="Text 226"/>
          <p:cNvSpPr txBox="1"/>
          <p:nvPr/>
        </p:nvSpPr>
        <p:spPr>
          <a:xfrm>
            <a:off x="6035040" y="329184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3</a:t>
            </a:r>
            <a:endParaRPr lang="en-US" sz="1800" dirty="0"/>
          </a:p>
        </p:txBody>
      </p:sp>
      <p:sp>
        <p:nvSpPr>
          <p:cNvPr id="12" name="Text 227"/>
          <p:cNvSpPr txBox="1"/>
          <p:nvPr/>
        </p:nvSpPr>
        <p:spPr>
          <a:xfrm>
            <a:off x="6629400" y="3200400"/>
            <a:ext cx="1783080" cy="868680"/>
          </a:xfrm>
          <a:prstGeom prst="rect">
            <a:avLst/>
          </a:prstGeom>
          <a:noFill/>
          <a:ln/>
        </p:spPr>
        <p:txBody>
          <a:bodyPr wrap="square" lIns="0" tIns="0" rIns="0" bIns="0" rtlCol="0" anchor="ctr"/>
          <a:lstStyle/>
          <a:p>
            <a:pPr indent="0" marL="0">
              <a:buNone/>
            </a:pPr>
            <a:r>
              <a:rPr lang="en-US" sz="1400" dirty="0">
                <a:solidFill>
                  <a:schemeClr val="bg1"/>
                </a:solidFill>
              </a:rPr>
              <a:t>Today's musicals face real life, and still make us want to clap</a:t>
            </a:r>
            <a:endParaRPr lang="en-US" sz="1400" dirty="0"/>
          </a:p>
        </p:txBody>
      </p:sp>
      <p:sp>
        <p:nvSpPr>
          <p:cNvPr id="13" name="Text 228"/>
          <p:cNvSpPr txBox="1"/>
          <p:nvPr/>
        </p:nvSpPr>
        <p:spPr>
          <a:xfrm>
            <a:off x="822960" y="4297680"/>
            <a:ext cx="7498080" cy="365760"/>
          </a:xfrm>
          <a:prstGeom prst="rect">
            <a:avLst/>
          </a:prstGeom>
          <a:noFill/>
          <a:ln/>
        </p:spPr>
        <p:txBody>
          <a:bodyPr wrap="square" lIns="0" tIns="0" rIns="0" bIns="0" rtlCol="0" anchor="ctr"/>
          <a:lstStyle/>
          <a:p>
            <a:pPr algn="ctr" indent="0" marL="0">
              <a:buNone/>
            </a:pPr>
            <a:r>
              <a:rPr lang="en-US" sz="1500" i="1" dirty="0">
                <a:solidFill>
                  <a:schemeClr val="accent3"/>
                </a:solidFill>
              </a:rPr>
              <a:t>Your turn: which musical would you show someone who "hates musicals"?</a:t>
            </a:r>
            <a:endParaRPr lang="en-US" sz="1500" dirty="0"/>
          </a:p>
        </p:txBody>
      </p:sp>
      <p:sp>
        <p:nvSpPr>
          <p:cNvPr id="15" name="Text 0"/>
          <p:cNvSpPr/>
          <p:nvPr>
            <p:ph idx="102" type="body" hasCustomPrompt="1"/>
          </p:nvPr>
        </p:nvSpPr>
        <p:spPr>
          <a:xfrm>
            <a:off x="914400" y="3200400"/>
            <a:ext cx="7315200" cy="457200"/>
          </a:xfrm>
          <a:prstGeom prst="rect">
            <a:avLst/>
          </a:prstGeom>
          <a:noFill/>
          <a:ln/>
        </p:spPr>
        <p:txBody>
          <a:bodyPr wrap="square" lIns="0" tIns="0" rIns="0" bIns="0" rtlCol="0"/>
          <a:lstStyle/>
          <a:p>
            <a:pPr algn="ctr" indent="0" marL="0">
              <a:buNone/>
            </a:pPr>
            <a:endParaRPr lang="en-US" sz="2000" dirty="0"/>
          </a:p>
        </p:txBody>
      </p:sp>
    </p:spTree>
  </p:cSld>
  <p:clrMapOvr>
    <a:masterClrMapping/>
  </p:clrMapOvr>
</p:sld>
</file>

<file path=ppt/theme/theme1.xml><?xml version="1.0" encoding="utf-8"?>
<a:theme xmlns:a="http://schemas.openxmlformats.org/drawingml/2006/main" name="Broadway Marquee">
  <a:themeElements>
    <a:clrScheme name="Broadway Marquee">
      <a:dk1>
        <a:srgbClr val="120E16"/>
      </a:dk1>
      <a:lt1>
        <a:srgbClr val="FFFFFF"/>
      </a:lt1>
      <a:dk2>
        <a:srgbClr val="261C2C"/>
      </a:dk2>
      <a:lt2>
        <a:srgbClr val="F4EEE6"/>
      </a:lt2>
      <a:accent1>
        <a:srgbClr val="D9AA3F"/>
      </a:accent1>
      <a:accent2>
        <a:srgbClr val="B3283F"/>
      </a:accent2>
      <a:accent3>
        <a:srgbClr val="EBD9A8"/>
      </a:accent3>
      <a:accent4>
        <a:srgbClr val="3A2C41"/>
      </a:accent4>
      <a:accent5>
        <a:srgbClr val="4E3A56"/>
      </a:accent5>
      <a:accent6>
        <a:srgbClr val="BDB3C4"/>
      </a:accent6>
      <a:hlink>
        <a:srgbClr val="D9AA3F"/>
      </a:hlink>
      <a:folHlink>
        <a:srgbClr val="EBD9A8"/>
      </a:folHlink>
    </a:clrScheme>
    <a:fontScheme name="Broadway Marquee">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American Musical Theatre</dc:title>
  <dc:subject>PptxGenJS Presentation</dc:subject>
  <dc:creator>PptxGenJS</dc:creator>
  <cp:lastModifiedBy>PptxGenJS</cp:lastModifiedBy>
  <cp:revision>1</cp:revision>
  <dcterms:created xsi:type="dcterms:W3CDTF">2026-10-08T21:31:15Z</dcterms:created>
  <dcterms:modified xsi:type="dcterms:W3CDTF">2026-10-08T21:31:15Z</dcterms:modified>
</cp:coreProperties>
</file>